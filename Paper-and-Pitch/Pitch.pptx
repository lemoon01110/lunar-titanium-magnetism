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>
              <a:srgbClr val="F2A93B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F2A93B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5AC8E6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9AA7C7"/>
              </a:solidFill>
              <a:ln w="0">
                <a:noFill/>
              </a:ln>
            </c:spPr>
          </c:dPt>
          <c:dLbls>
            <c:dLbl>
              <c:idx val="0"/>
              <c:numFmt formatCode="0.000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EAF0FF"/>
                      </a:solidFill>
                      <a:uFillTx/>
                      <a:latin typeface="Calibri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0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EAF0FF"/>
                      </a:solidFill>
                      <a:uFillTx/>
                      <a:latin typeface="Calibri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0" sourceLinked="0"/>
              <c:txPr>
                <a:bodyPr wrap="square"/>
                <a:lstStyle/>
                <a:p>
                  <a:pPr>
                    <a:defRPr sz="1200" b="0" u="none" strike="noStrike">
                      <a:solidFill>
                        <a:srgbClr val="EAF0FF"/>
                      </a:solidFill>
                      <a:uFillTx/>
                      <a:latin typeface="Calibri"/>
                      <a:ea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0.000" sourceLinked="0"/>
            <c:txPr>
              <a:bodyPr wrap="square"/>
              <a:lstStyle/>
              <a:p>
                <a:pPr>
                  <a:defRPr sz="1200" b="0" u="none" strike="noStrike">
                    <a:solidFill>
                      <a:srgbClr val="EAF0FF"/>
                    </a:solidFill>
                    <a:uFillTx/>
                    <a:latin typeface="Calibri"/>
                    <a:ea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gapWidth val="150"/>
        <c:overlap val="0"/>
        <c:axId val="59373150"/>
        <c:axId val="18500412"/>
      </c:barChart>
      <c:catAx>
        <c:axId val="5937315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2E3B66"/>
            </a:solidFill>
            <a:round/>
          </a:ln>
        </c:spPr>
        <c:txPr>
          <a:bodyPr/>
          <a:lstStyle/>
          <a:p>
            <a:pPr>
              <a:defRPr sz="1100" b="0" u="none" strike="noStrike">
                <a:solidFill>
                  <a:srgbClr val="EAF0FF"/>
                </a:solidFill>
                <a:uFillTx/>
                <a:latin typeface="Calibri"/>
                <a:ea typeface="Calibri"/>
              </a:defRPr>
            </a:pPr>
          </a:p>
        </c:txPr>
        <c:crossAx val="18500412"/>
        <c:crosses val="autoZero"/>
        <c:auto val="1"/>
        <c:lblAlgn val="ctr"/>
        <c:lblOffset val="100"/>
        <c:noMultiLvlLbl val="0"/>
      </c:catAx>
      <c:valAx>
        <c:axId val="18500412"/>
        <c:scaling>
          <c:orientation val="minMax"/>
          <c:max val="0.3"/>
          <c:min val="0"/>
        </c:scaling>
        <c:delete val="0"/>
        <c:axPos val="l"/>
        <c:majorGridlines>
          <c:spPr>
            <a:ln w="12600">
              <a:solidFill>
                <a:srgbClr val="2E3B66"/>
              </a:solidFill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600">
            <a:solidFill>
              <a:srgbClr val="2E3B66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9AA7C7"/>
                </a:solidFill>
                <a:uFillTx/>
                <a:latin typeface="Calibri"/>
                <a:ea typeface="Calibri"/>
              </a:defRPr>
            </a:pPr>
          </a:p>
        </c:txPr>
        <c:crossAx val="59373150"/>
        <c:crosses val="autoZero"/>
        <c:crossBetween val="between"/>
        <c:majorUnit val="0.05"/>
      </c:valAx>
      <c:spPr>
        <a:solidFill>
          <a:srgbClr val="18213F"/>
        </a:solidFill>
        <a:ln w="0">
          <a:noFill/>
        </a:ln>
      </c:spPr>
    </c:plotArea>
    <c:plotVisOnly val="1"/>
    <c:dispBlanksAs val="zero"/>
  </c:chart>
  <c:spPr>
    <a:solidFill>
      <a:srgbClr val="18213F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Font typeface="Wingdings"/>
              <a:buChar char="l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Font typeface="Wingdings"/>
              <a:buChar char="l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141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" name="Shape 28"/>
          <p:cNvSpPr/>
          <p:nvPr/>
        </p:nvSpPr>
        <p:spPr>
          <a:xfrm>
            <a:off x="7646760" y="1108800"/>
            <a:ext cx="4639680" cy="463968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" name="Shape 29"/>
          <p:cNvSpPr/>
          <p:nvPr/>
        </p:nvSpPr>
        <p:spPr>
          <a:xfrm>
            <a:off x="8078760" y="1540800"/>
            <a:ext cx="3775320" cy="377532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Shape 30"/>
          <p:cNvSpPr/>
          <p:nvPr/>
        </p:nvSpPr>
        <p:spPr>
          <a:xfrm>
            <a:off x="8366760" y="1828800"/>
            <a:ext cx="3199320" cy="319932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31"/>
          <p:cNvSpPr/>
          <p:nvPr/>
        </p:nvSpPr>
        <p:spPr>
          <a:xfrm>
            <a:off x="9182880" y="2804760"/>
            <a:ext cx="447120" cy="44712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" name="Shape 32"/>
          <p:cNvSpPr/>
          <p:nvPr/>
        </p:nvSpPr>
        <p:spPr>
          <a:xfrm>
            <a:off x="10271160" y="3413160"/>
            <a:ext cx="351000" cy="3510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" name="Shape 33"/>
          <p:cNvSpPr/>
          <p:nvPr/>
        </p:nvSpPr>
        <p:spPr>
          <a:xfrm>
            <a:off x="9662760" y="3925080"/>
            <a:ext cx="286920" cy="28692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10103040" y="2604960"/>
            <a:ext cx="207000" cy="2070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640080" y="1051560"/>
            <a:ext cx="7771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SURFACE PROXY · SPATIAL ANALYSIS · OPEN WORKFLOW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640080" y="1554480"/>
            <a:ext cx="786276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Surface titanium and lunar</a:t>
            </a:r>
            <a:endParaRPr lang="en-US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crustal magnetism</a:t>
            </a:r>
            <a:endParaRPr lang="en-US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7"/>
          <p:cNvSpPr/>
          <p:nvPr/>
        </p:nvSpPr>
        <p:spPr>
          <a:xfrm>
            <a:off x="640080" y="3611880"/>
            <a:ext cx="66751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Global-map analysis over the declared joint-valid footprint (LROC ±70° and Imbrian-age restriction). </a:t>
            </a:r>
            <a:r>
              <a:rPr lang="en-US" sz="1800" b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It does not directly test</a:t>
            </a:r>
            <a:r>
              <a:rPr lang="en-US" sz="18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 the dated temporal mechanism of Nichols et al. (2026).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640080" y="594360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Jack Wu (lemoon01110) · ORCID 0009-0004-1710-9018 · v2.0.0 · github.com/lemoon01110/Lunar-Titanium-Magnetism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5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6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7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1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2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3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6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7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8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0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1" name="Shape 28"/>
          <p:cNvSpPr/>
          <p:nvPr/>
        </p:nvSpPr>
        <p:spPr>
          <a:xfrm rot="2383800">
            <a:off x="7646400" y="1108800"/>
            <a:ext cx="4639680" cy="463968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2" name="Shape 29"/>
          <p:cNvSpPr/>
          <p:nvPr/>
        </p:nvSpPr>
        <p:spPr>
          <a:xfrm rot="2383800">
            <a:off x="8078400" y="1540800"/>
            <a:ext cx="3775320" cy="377532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3" name="Shape 30"/>
          <p:cNvSpPr/>
          <p:nvPr/>
        </p:nvSpPr>
        <p:spPr>
          <a:xfrm rot="2383800">
            <a:off x="8366400" y="1828440"/>
            <a:ext cx="3199320" cy="319932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4" name="Shape 31"/>
          <p:cNvSpPr/>
          <p:nvPr/>
        </p:nvSpPr>
        <p:spPr>
          <a:xfrm rot="2383800">
            <a:off x="9567360" y="2539080"/>
            <a:ext cx="447120" cy="44712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5" name="Shape 32"/>
          <p:cNvSpPr/>
          <p:nvPr/>
        </p:nvSpPr>
        <p:spPr>
          <a:xfrm rot="2383800">
            <a:off x="10057320" y="3683160"/>
            <a:ext cx="351000" cy="3510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6" name="Shape 33"/>
          <p:cNvSpPr/>
          <p:nvPr/>
        </p:nvSpPr>
        <p:spPr>
          <a:xfrm rot="2383800">
            <a:off x="9290520" y="3674880"/>
            <a:ext cx="286920" cy="28692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34"/>
          <p:cNvSpPr/>
          <p:nvPr/>
        </p:nvSpPr>
        <p:spPr>
          <a:xfrm rot="2383800">
            <a:off x="10507320" y="2924640"/>
            <a:ext cx="207000" cy="2070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44"/>
          <p:cNvSpPr/>
          <p:nvPr/>
        </p:nvSpPr>
        <p:spPr>
          <a:xfrm>
            <a:off x="457200" y="457200"/>
            <a:ext cx="6199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BEFORE THE RESULTS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5"/>
          <p:cNvSpPr/>
          <p:nvPr/>
        </p:nvSpPr>
        <p:spPr>
          <a:xfrm>
            <a:off x="457200" y="900000"/>
            <a:ext cx="6199560" cy="10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Independent work,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openly assisted.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46"/>
          <p:cNvSpPr/>
          <p:nvPr/>
        </p:nvSpPr>
        <p:spPr>
          <a:xfrm>
            <a:off x="457200" y="2149920"/>
            <a:ext cx="899640" cy="17640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7000" rIns="90000" bIns="-27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7"/>
          <p:cNvSpPr/>
          <p:nvPr/>
        </p:nvSpPr>
        <p:spPr>
          <a:xfrm>
            <a:off x="457200" y="2350080"/>
            <a:ext cx="61995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8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C9D3EE"/>
                </a:solidFill>
                <a:effectLst/>
                <a:uFillTx/>
                <a:latin typeface="Calibri"/>
                <a:ea typeface="Calibri"/>
              </a:rPr>
              <a:t>An independent, reproducible analysis of a present-day surface-map proxy, not peer reviewed yet.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800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Language models helped with code, drafting, and adversarial review. Scientific framing, design choices, and every claim remain the author’s.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48"/>
          <p:cNvSpPr/>
          <p:nvPr/>
        </p:nvSpPr>
        <p:spPr>
          <a:xfrm>
            <a:off x="457200" y="5799960"/>
            <a:ext cx="619956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Jack Wu · v2.0.0 · AI tools used, author accountable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5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8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0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1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5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6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9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0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1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5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6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8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9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0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PUZZLE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9"/>
          <p:cNvSpPr/>
          <p:nvPr/>
        </p:nvSpPr>
        <p:spPr>
          <a:xfrm>
            <a:off x="640080" y="868680"/>
            <a:ext cx="84114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A magnetized crust without a present-day global dynamo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30"/>
          <p:cNvSpPr/>
          <p:nvPr/>
        </p:nvSpPr>
        <p:spPr>
          <a:xfrm>
            <a:off x="7466760" y="1568880"/>
            <a:ext cx="4724640" cy="4724640"/>
          </a:xfrm>
          <a:prstGeom prst="ellipse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4" name="Shape 31"/>
          <p:cNvSpPr/>
          <p:nvPr/>
        </p:nvSpPr>
        <p:spPr>
          <a:xfrm>
            <a:off x="7671960" y="1774080"/>
            <a:ext cx="4314960" cy="4314960"/>
          </a:xfrm>
          <a:prstGeom prst="ellipse">
            <a:avLst/>
          </a:prstGeom>
          <a:solidFill>
            <a:srgbClr val="5AC8E6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32"/>
          <p:cNvSpPr/>
          <p:nvPr/>
        </p:nvSpPr>
        <p:spPr>
          <a:xfrm>
            <a:off x="8001000" y="2103120"/>
            <a:ext cx="3656520" cy="365652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6" name="Shape 33"/>
          <p:cNvSpPr/>
          <p:nvPr/>
        </p:nvSpPr>
        <p:spPr>
          <a:xfrm>
            <a:off x="8933760" y="3218760"/>
            <a:ext cx="510840" cy="51084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7" name="Shape 34"/>
          <p:cNvSpPr/>
          <p:nvPr/>
        </p:nvSpPr>
        <p:spPr>
          <a:xfrm>
            <a:off x="10177200" y="3913560"/>
            <a:ext cx="401400" cy="4014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35"/>
          <p:cNvSpPr/>
          <p:nvPr/>
        </p:nvSpPr>
        <p:spPr>
          <a:xfrm>
            <a:off x="9482400" y="4498920"/>
            <a:ext cx="327960" cy="3279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36"/>
          <p:cNvSpPr/>
          <p:nvPr/>
        </p:nvSpPr>
        <p:spPr>
          <a:xfrm>
            <a:off x="9985320" y="2990160"/>
            <a:ext cx="236520" cy="23652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0" name="Shape 37"/>
          <p:cNvSpPr/>
          <p:nvPr/>
        </p:nvSpPr>
        <p:spPr>
          <a:xfrm>
            <a:off x="9235440" y="3200400"/>
            <a:ext cx="200160" cy="20016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1" name="Shape 38"/>
          <p:cNvSpPr/>
          <p:nvPr/>
        </p:nvSpPr>
        <p:spPr>
          <a:xfrm>
            <a:off x="10424160" y="3474720"/>
            <a:ext cx="200160" cy="20016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2" name="Shape 39"/>
          <p:cNvSpPr/>
          <p:nvPr/>
        </p:nvSpPr>
        <p:spPr>
          <a:xfrm>
            <a:off x="9692640" y="4480560"/>
            <a:ext cx="200160" cy="20016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40"/>
          <p:cNvSpPr/>
          <p:nvPr/>
        </p:nvSpPr>
        <p:spPr>
          <a:xfrm>
            <a:off x="10241280" y="4572000"/>
            <a:ext cx="200160" cy="20016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4" name="Shape 41"/>
          <p:cNvSpPr/>
          <p:nvPr/>
        </p:nvSpPr>
        <p:spPr>
          <a:xfrm>
            <a:off x="685800" y="2020680"/>
            <a:ext cx="181800" cy="18180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 42"/>
          <p:cNvSpPr/>
          <p:nvPr/>
        </p:nvSpPr>
        <p:spPr>
          <a:xfrm>
            <a:off x="1051560" y="1965960"/>
            <a:ext cx="7588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No global field today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43"/>
          <p:cNvSpPr/>
          <p:nvPr/>
        </p:nvSpPr>
        <p:spPr>
          <a:xfrm>
            <a:off x="1051560" y="2350080"/>
            <a:ext cx="6720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Unlike Earth, the Moon has no active global core dynamo today.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4"/>
          <p:cNvSpPr/>
          <p:nvPr/>
        </p:nvSpPr>
        <p:spPr>
          <a:xfrm>
            <a:off x="685800" y="3319200"/>
            <a:ext cx="181800" cy="18180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 45"/>
          <p:cNvSpPr/>
          <p:nvPr/>
        </p:nvSpPr>
        <p:spPr>
          <a:xfrm>
            <a:off x="1051560" y="3264480"/>
            <a:ext cx="7588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Yet the crust is magnetized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6"/>
          <p:cNvSpPr/>
          <p:nvPr/>
        </p:nvSpPr>
        <p:spPr>
          <a:xfrm>
            <a:off x="1051560" y="3648600"/>
            <a:ext cx="58060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Orbiting spacecraft measure strong, patchy magnetic anomalies locked into ancient rock.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47"/>
          <p:cNvSpPr/>
          <p:nvPr/>
        </p:nvSpPr>
        <p:spPr>
          <a:xfrm>
            <a:off x="685800" y="4617720"/>
            <a:ext cx="181800" cy="18180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48"/>
          <p:cNvSpPr/>
          <p:nvPr/>
        </p:nvSpPr>
        <p:spPr>
          <a:xfrm>
            <a:off x="1051560" y="4563000"/>
            <a:ext cx="7588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Timing is the missing variable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9"/>
          <p:cNvSpPr/>
          <p:nvPr/>
        </p:nvSpPr>
        <p:spPr>
          <a:xfrm>
            <a:off x="1051560" y="4946760"/>
            <a:ext cx="6034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Dated samples constrain ancient field evolution. Present-day surface maps test spatial co-location, not the temporal dynamo mechanism.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8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9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2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0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1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5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6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7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SCOPE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One temporal mechanism motivates one spatial proxy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0"/>
          <p:cNvSpPr/>
          <p:nvPr/>
        </p:nvSpPr>
        <p:spPr>
          <a:xfrm>
            <a:off x="640080" y="1828800"/>
            <a:ext cx="5256720" cy="4113720"/>
          </a:xfrm>
          <a:prstGeom prst="roundRect">
            <a:avLst>
              <a:gd name="adj" fmla="val 2222"/>
            </a:avLst>
          </a:prstGeom>
          <a:solidFill>
            <a:srgbClr val="18213F"/>
          </a:solidFill>
          <a:ln w="12700">
            <a:solidFill>
              <a:srgbClr val="F2A93B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31"/>
          <p:cNvSpPr/>
          <p:nvPr/>
        </p:nvSpPr>
        <p:spPr>
          <a:xfrm>
            <a:off x="960120" y="2212920"/>
            <a:ext cx="236520" cy="23652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32"/>
          <p:cNvSpPr/>
          <p:nvPr/>
        </p:nvSpPr>
        <p:spPr>
          <a:xfrm>
            <a:off x="1325880" y="2121480"/>
            <a:ext cx="443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Motivation · dated samples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3"/>
          <p:cNvSpPr/>
          <p:nvPr/>
        </p:nvSpPr>
        <p:spPr>
          <a:xfrm>
            <a:off x="960120" y="2697480"/>
            <a:ext cx="4616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Nichols, Wade &amp; Stephenson (2026), Nature Geoscience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4"/>
          <p:cNvSpPr/>
          <p:nvPr/>
        </p:nvSpPr>
        <p:spPr>
          <a:xfrm>
            <a:off x="960120" y="3154680"/>
            <a:ext cx="461664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Favored mechanism: radiogenic melting of ilmenite-bearing cumulates at the core-mantle boundary after overturn, raising core heat flux (not simply continued sinking of Ti-rich material).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5"/>
          <p:cNvSpPr/>
          <p:nvPr/>
        </p:nvSpPr>
        <p:spPr>
          <a:xfrm>
            <a:off x="960120" y="5257800"/>
            <a:ext cx="4616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i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Temporal mechanism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6"/>
          <p:cNvSpPr/>
          <p:nvPr/>
        </p:nvSpPr>
        <p:spPr>
          <a:xfrm>
            <a:off x="6263640" y="1828800"/>
            <a:ext cx="5256720" cy="4113720"/>
          </a:xfrm>
          <a:prstGeom prst="roundRect">
            <a:avLst>
              <a:gd name="adj" fmla="val 2222"/>
            </a:avLst>
          </a:prstGeom>
          <a:solidFill>
            <a:srgbClr val="18213F"/>
          </a:solidFill>
          <a:ln w="12700">
            <a:solidFill>
              <a:srgbClr val="5AC8E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0" name="Shape 37"/>
          <p:cNvSpPr/>
          <p:nvPr/>
        </p:nvSpPr>
        <p:spPr>
          <a:xfrm>
            <a:off x="6583680" y="2212920"/>
            <a:ext cx="236520" cy="2365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38"/>
          <p:cNvSpPr/>
          <p:nvPr/>
        </p:nvSpPr>
        <p:spPr>
          <a:xfrm>
            <a:off x="6949440" y="2121480"/>
            <a:ext cx="4433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Benchmark · impact antipodes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9"/>
          <p:cNvSpPr/>
          <p:nvPr/>
        </p:nvSpPr>
        <p:spPr>
          <a:xfrm>
            <a:off x="6583680" y="2697480"/>
            <a:ext cx="4616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Hood &amp; Artemieva (2008), Icarus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0"/>
          <p:cNvSpPr/>
          <p:nvPr/>
        </p:nvSpPr>
        <p:spPr>
          <a:xfrm>
            <a:off x="6583680" y="3154680"/>
            <a:ext cx="461664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Fold-matched H2 PR-AUC .271820 vs null mean .155877, SD .103869 and 95th .376621 (p=.172414, not recovered).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41"/>
          <p:cNvSpPr/>
          <p:nvPr/>
        </p:nvSpPr>
        <p:spPr>
          <a:xfrm>
            <a:off x="6583680" y="5257800"/>
            <a:ext cx="4616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i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86 fold-matched shifts · 5/5 folds evaluable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6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7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8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2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3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4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7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8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9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2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3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4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7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8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99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2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ANSWERABLE QUESTION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40080" y="1371600"/>
            <a:ext cx="1097172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Does surface </a:t>
            </a:r>
            <a:r>
              <a:rPr lang="en-US" sz="3800" b="1" u="none" strike="noStrike">
                <a:solidFill>
                  <a:srgbClr val="F2A93B"/>
                </a:solidFill>
                <a:effectLst/>
                <a:uFillTx/>
                <a:latin typeface="Cambria"/>
                <a:ea typeface="Cambria"/>
              </a:rPr>
              <a:t>TiO₂</a:t>
            </a:r>
            <a:r>
              <a:rPr lang="en-US" sz="38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 add spatial information for crustal magnetism </a:t>
            </a:r>
            <a:r>
              <a:rPr lang="en-US" sz="3800" b="1" u="none" strike="noStrike">
                <a:solidFill>
                  <a:srgbClr val="5AC8E6"/>
                </a:solidFill>
                <a:effectLst/>
                <a:uFillTx/>
                <a:latin typeface="Cambria"/>
                <a:ea typeface="Cambria"/>
              </a:rPr>
              <a:t>after mapped geologic controls</a:t>
            </a:r>
            <a:r>
              <a:rPr lang="en-US" sz="38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?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30"/>
          <p:cNvSpPr/>
          <p:nvPr/>
        </p:nvSpPr>
        <p:spPr>
          <a:xfrm>
            <a:off x="640080" y="3840480"/>
            <a:ext cx="3565080" cy="2193480"/>
          </a:xfrm>
          <a:prstGeom prst="roundRect">
            <a:avLst>
              <a:gd name="adj" fmla="val 4167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6" name="Shape 31"/>
          <p:cNvSpPr/>
          <p:nvPr/>
        </p:nvSpPr>
        <p:spPr>
          <a:xfrm>
            <a:off x="914400" y="4133160"/>
            <a:ext cx="456120" cy="45612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32"/>
          <p:cNvSpPr/>
          <p:nvPr/>
        </p:nvSpPr>
        <p:spPr>
          <a:xfrm>
            <a:off x="914400" y="41331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33"/>
          <p:cNvSpPr/>
          <p:nvPr/>
        </p:nvSpPr>
        <p:spPr>
          <a:xfrm>
            <a:off x="914400" y="4754880"/>
            <a:ext cx="3016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Repository plan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4"/>
          <p:cNvSpPr/>
          <p:nvPr/>
        </p:nvSpPr>
        <p:spPr>
          <a:xfrm>
            <a:off x="914400" y="5166360"/>
            <a:ext cx="3016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Author-declared plan; timing is not independently verifiable. Binding scores use default-config XGBoost.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35"/>
          <p:cNvSpPr/>
          <p:nvPr/>
        </p:nvSpPr>
        <p:spPr>
          <a:xfrm>
            <a:off x="4526280" y="3840480"/>
            <a:ext cx="3565080" cy="2193480"/>
          </a:xfrm>
          <a:prstGeom prst="roundRect">
            <a:avLst>
              <a:gd name="adj" fmla="val 4167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1" name="Shape 36"/>
          <p:cNvSpPr/>
          <p:nvPr/>
        </p:nvSpPr>
        <p:spPr>
          <a:xfrm>
            <a:off x="4800600" y="4133160"/>
            <a:ext cx="456120" cy="4561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 37"/>
          <p:cNvSpPr/>
          <p:nvPr/>
        </p:nvSpPr>
        <p:spPr>
          <a:xfrm>
            <a:off x="4800600" y="41331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38"/>
          <p:cNvSpPr/>
          <p:nvPr/>
        </p:nvSpPr>
        <p:spPr>
          <a:xfrm>
            <a:off x="4800600" y="4754880"/>
            <a:ext cx="3016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Power-gated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9"/>
          <p:cNvSpPr/>
          <p:nvPr/>
        </p:nvSpPr>
        <p:spPr>
          <a:xfrm>
            <a:off x="4800600" y="5166360"/>
            <a:ext cx="3016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Positive and negative outcomes are explicit. Negative claims require adequate detection power.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0"/>
          <p:cNvSpPr/>
          <p:nvPr/>
        </p:nvSpPr>
        <p:spPr>
          <a:xfrm>
            <a:off x="8412480" y="3840480"/>
            <a:ext cx="3565080" cy="2193480"/>
          </a:xfrm>
          <a:prstGeom prst="roundRect">
            <a:avLst>
              <a:gd name="adj" fmla="val 4167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6" name="Shape 41"/>
          <p:cNvSpPr/>
          <p:nvPr/>
        </p:nvSpPr>
        <p:spPr>
          <a:xfrm>
            <a:off x="8686800" y="4133160"/>
            <a:ext cx="456120" cy="4561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 42"/>
          <p:cNvSpPr/>
          <p:nvPr/>
        </p:nvSpPr>
        <p:spPr>
          <a:xfrm>
            <a:off x="8686800" y="41331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3"/>
          <p:cNvSpPr/>
          <p:nvPr/>
        </p:nvSpPr>
        <p:spPr>
          <a:xfrm>
            <a:off x="8686800" y="4754880"/>
            <a:ext cx="30164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Scope-limited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4"/>
          <p:cNvSpPr/>
          <p:nvPr/>
        </p:nvSpPr>
        <p:spPr>
          <a:xfrm>
            <a:off x="8686800" y="5166360"/>
            <a:ext cx="3016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The result concerns spatial co-location, not Nichols et al.'s temporal dynamo mechanism.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1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2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6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9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1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2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3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4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5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6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8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39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0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2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3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4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5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6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7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EVIDENCE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Five principal products (23 pinned source files), plus a mapped mare-proxy mask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30"/>
          <p:cNvSpPr/>
          <p:nvPr/>
        </p:nvSpPr>
        <p:spPr>
          <a:xfrm>
            <a:off x="640080" y="1783080"/>
            <a:ext cx="7222680" cy="785160"/>
          </a:xfrm>
          <a:prstGeom prst="roundRect">
            <a:avLst>
              <a:gd name="adj" fmla="val 116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1" name="Shape 31"/>
          <p:cNvSpPr/>
          <p:nvPr/>
        </p:nvSpPr>
        <p:spPr>
          <a:xfrm>
            <a:off x="960120" y="2094120"/>
            <a:ext cx="181800" cy="18180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32"/>
          <p:cNvSpPr/>
          <p:nvPr/>
        </p:nvSpPr>
        <p:spPr>
          <a:xfrm>
            <a:off x="1325880" y="189288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Magnetic field (what we predict)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3"/>
          <p:cNvSpPr/>
          <p:nvPr/>
        </p:nvSpPr>
        <p:spPr>
          <a:xfrm>
            <a:off x="1325880" y="220356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Tsunakawa et al. 2015 surface SVM via Wieczorek T2015_449 (surface-evaluated |B|, primary threshold 10 nT)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34"/>
          <p:cNvSpPr/>
          <p:nvPr/>
        </p:nvSpPr>
        <p:spPr>
          <a:xfrm>
            <a:off x="640080" y="2679120"/>
            <a:ext cx="7222680" cy="785160"/>
          </a:xfrm>
          <a:prstGeom prst="roundRect">
            <a:avLst>
              <a:gd name="adj" fmla="val 116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5" name="Shape 35"/>
          <p:cNvSpPr/>
          <p:nvPr/>
        </p:nvSpPr>
        <p:spPr>
          <a:xfrm>
            <a:off x="960120" y="2990160"/>
            <a:ext cx="181800" cy="18180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 36"/>
          <p:cNvSpPr/>
          <p:nvPr/>
        </p:nvSpPr>
        <p:spPr>
          <a:xfrm>
            <a:off x="1325880" y="278892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Surface titanium: TiO₂ (proxy)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7"/>
          <p:cNvSpPr/>
          <p:nvPr/>
        </p:nvSpPr>
        <p:spPr>
          <a:xfrm>
            <a:off x="1325880" y="309996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LROC WAC UV/Vis. Values &lt;2 wt% are non-quantitative (product floor). Primary uses ≥2 wt% only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8"/>
          <p:cNvSpPr/>
          <p:nvPr/>
        </p:nvSpPr>
        <p:spPr>
          <a:xfrm>
            <a:off x="640080" y="3575160"/>
            <a:ext cx="7222680" cy="785160"/>
          </a:xfrm>
          <a:prstGeom prst="roundRect">
            <a:avLst>
              <a:gd name="adj" fmla="val 116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9" name="Shape 39"/>
          <p:cNvSpPr/>
          <p:nvPr/>
        </p:nvSpPr>
        <p:spPr>
          <a:xfrm>
            <a:off x="960120" y="3886200"/>
            <a:ext cx="181800" cy="181800"/>
          </a:xfrm>
          <a:prstGeom prst="ellipse">
            <a:avLst/>
          </a:prstGeom>
          <a:solidFill>
            <a:srgbClr val="9FB4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40"/>
          <p:cNvSpPr/>
          <p:nvPr/>
        </p:nvSpPr>
        <p:spPr>
          <a:xfrm>
            <a:off x="1325880" y="368496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Bouguer gravity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1"/>
          <p:cNvSpPr/>
          <p:nvPr/>
        </p:nvSpPr>
        <p:spPr>
          <a:xfrm>
            <a:off x="1325880" y="399600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GRAIL GRGM1200A: subsurface density structure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42"/>
          <p:cNvSpPr/>
          <p:nvPr/>
        </p:nvSpPr>
        <p:spPr>
          <a:xfrm>
            <a:off x="640080" y="4471560"/>
            <a:ext cx="7222680" cy="785160"/>
          </a:xfrm>
          <a:prstGeom prst="roundRect">
            <a:avLst>
              <a:gd name="adj" fmla="val 116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3" name="Shape 43"/>
          <p:cNvSpPr/>
          <p:nvPr/>
        </p:nvSpPr>
        <p:spPr>
          <a:xfrm>
            <a:off x="960120" y="4782240"/>
            <a:ext cx="181800" cy="181800"/>
          </a:xfrm>
          <a:prstGeom prst="ellipse">
            <a:avLst/>
          </a:prstGeom>
          <a:solidFill>
            <a:srgbClr val="9FB4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 44"/>
          <p:cNvSpPr/>
          <p:nvPr/>
        </p:nvSpPr>
        <p:spPr>
          <a:xfrm>
            <a:off x="1325880" y="458100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Crustal thickness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45"/>
          <p:cNvSpPr/>
          <p:nvPr/>
        </p:nvSpPr>
        <p:spPr>
          <a:xfrm>
            <a:off x="1325880" y="489204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GRAIL crustal-thickness archive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6"/>
          <p:cNvSpPr/>
          <p:nvPr/>
        </p:nvSpPr>
        <p:spPr>
          <a:xfrm>
            <a:off x="640080" y="5367600"/>
            <a:ext cx="7222680" cy="785160"/>
          </a:xfrm>
          <a:prstGeom prst="roundRect">
            <a:avLst>
              <a:gd name="adj" fmla="val 116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7" name="Shape 47"/>
          <p:cNvSpPr/>
          <p:nvPr/>
        </p:nvSpPr>
        <p:spPr>
          <a:xfrm>
            <a:off x="960120" y="5678280"/>
            <a:ext cx="181800" cy="181800"/>
          </a:xfrm>
          <a:prstGeom prst="ellipse">
            <a:avLst/>
          </a:prstGeom>
          <a:solidFill>
            <a:srgbClr val="9AA7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48"/>
          <p:cNvSpPr/>
          <p:nvPr/>
        </p:nvSpPr>
        <p:spPr>
          <a:xfrm>
            <a:off x="1325880" y="547740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Geology + mare proxy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9"/>
          <p:cNvSpPr/>
          <p:nvPr/>
        </p:nvSpPr>
        <p:spPr>
          <a:xfrm>
            <a:off x="1325880" y="5788080"/>
            <a:ext cx="6399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USGS units define age and mapped mare-proxy scope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0"/>
          <p:cNvSpPr/>
          <p:nvPr/>
        </p:nvSpPr>
        <p:spPr>
          <a:xfrm>
            <a:off x="8183880" y="1783080"/>
            <a:ext cx="3382200" cy="4369680"/>
          </a:xfrm>
          <a:prstGeom prst="roundRect">
            <a:avLst>
              <a:gd name="adj" fmla="val 2703"/>
            </a:avLst>
          </a:prstGeom>
          <a:solidFill>
            <a:srgbClr val="1E2A4E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51"/>
          <p:cNvSpPr/>
          <p:nvPr/>
        </p:nvSpPr>
        <p:spPr>
          <a:xfrm>
            <a:off x="8503920" y="2148840"/>
            <a:ext cx="2742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~2 GB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52"/>
          <p:cNvSpPr/>
          <p:nvPr/>
        </p:nvSpPr>
        <p:spPr>
          <a:xfrm>
            <a:off x="8503920" y="2715840"/>
            <a:ext cx="2742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of institutional data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53"/>
          <p:cNvSpPr/>
          <p:nvPr/>
        </p:nvSpPr>
        <p:spPr>
          <a:xfrm>
            <a:off x="8503920" y="3173040"/>
            <a:ext cx="2742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4"/>
          <p:cNvSpPr/>
          <p:nvPr/>
        </p:nvSpPr>
        <p:spPr>
          <a:xfrm>
            <a:off x="8503920" y="3740040"/>
            <a:ext cx="2742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pinned source files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5"/>
          <p:cNvSpPr/>
          <p:nvPr/>
        </p:nvSpPr>
        <p:spPr>
          <a:xfrm>
            <a:off x="8503920" y="4197240"/>
            <a:ext cx="2742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SHA-256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56"/>
          <p:cNvSpPr/>
          <p:nvPr/>
        </p:nvSpPr>
        <p:spPr>
          <a:xfrm>
            <a:off x="8503920" y="4763880"/>
            <a:ext cx="2742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every byte verified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57"/>
          <p:cNvSpPr/>
          <p:nvPr/>
        </p:nvSpPr>
        <p:spPr>
          <a:xfrm>
            <a:off x="8503920" y="5221080"/>
            <a:ext cx="2742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1° grid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8"/>
          <p:cNvSpPr/>
          <p:nvPr/>
        </p:nvSpPr>
        <p:spPr>
          <a:xfrm>
            <a:off x="8503920" y="5788080"/>
            <a:ext cx="2742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≈ 30 km at the equator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0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2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3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4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5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6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7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8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89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0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1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2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3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4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5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6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7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8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99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0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1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2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3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4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5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6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METHOD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Four stages separate description from inference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0"/>
          <p:cNvSpPr/>
          <p:nvPr/>
        </p:nvSpPr>
        <p:spPr>
          <a:xfrm>
            <a:off x="640080" y="1920240"/>
            <a:ext cx="2669040" cy="2879280"/>
          </a:xfrm>
          <a:prstGeom prst="roundRect">
            <a:avLst>
              <a:gd name="adj" fmla="val 3425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0" name="Shape 31"/>
          <p:cNvSpPr/>
          <p:nvPr/>
        </p:nvSpPr>
        <p:spPr>
          <a:xfrm>
            <a:off x="896040" y="2194560"/>
            <a:ext cx="456120" cy="4561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 32"/>
          <p:cNvSpPr/>
          <p:nvPr/>
        </p:nvSpPr>
        <p:spPr>
          <a:xfrm>
            <a:off x="896040" y="2194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3"/>
          <p:cNvSpPr/>
          <p:nvPr/>
        </p:nvSpPr>
        <p:spPr>
          <a:xfrm>
            <a:off x="896040" y="2834640"/>
            <a:ext cx="21567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Align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4"/>
          <p:cNvSpPr/>
          <p:nvPr/>
        </p:nvSpPr>
        <p:spPr>
          <a:xfrm>
            <a:off x="896040" y="3291840"/>
            <a:ext cx="2156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Align five maps and the derived mapped mare-proxy mask on one equal-area lunar grid.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35"/>
          <p:cNvSpPr/>
          <p:nvPr/>
        </p:nvSpPr>
        <p:spPr>
          <a:xfrm>
            <a:off x="3291840" y="301752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E3B66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6"/>
          <p:cNvSpPr/>
          <p:nvPr/>
        </p:nvSpPr>
        <p:spPr>
          <a:xfrm>
            <a:off x="3529440" y="1920240"/>
            <a:ext cx="2669040" cy="2879280"/>
          </a:xfrm>
          <a:prstGeom prst="roundRect">
            <a:avLst>
              <a:gd name="adj" fmla="val 3425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37"/>
          <p:cNvSpPr/>
          <p:nvPr/>
        </p:nvSpPr>
        <p:spPr>
          <a:xfrm>
            <a:off x="3785760" y="2194560"/>
            <a:ext cx="456120" cy="4561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 38"/>
          <p:cNvSpPr/>
          <p:nvPr/>
        </p:nvSpPr>
        <p:spPr>
          <a:xfrm>
            <a:off x="3785760" y="2194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9"/>
          <p:cNvSpPr/>
          <p:nvPr/>
        </p:nvSpPr>
        <p:spPr>
          <a:xfrm>
            <a:off x="3785760" y="2834640"/>
            <a:ext cx="21567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Describe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40"/>
          <p:cNvSpPr/>
          <p:nvPr/>
        </p:nvSpPr>
        <p:spPr>
          <a:xfrm>
            <a:off x="3785760" y="3291840"/>
            <a:ext cx="2156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Fit continuous amplitude with controls, then add Ti features: raw + 25/50/100 km.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1"/>
          <p:cNvSpPr/>
          <p:nvPr/>
        </p:nvSpPr>
        <p:spPr>
          <a:xfrm>
            <a:off x="6181200" y="301752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E3B66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42"/>
          <p:cNvSpPr/>
          <p:nvPr/>
        </p:nvSpPr>
        <p:spPr>
          <a:xfrm>
            <a:off x="6419160" y="1920240"/>
            <a:ext cx="2669040" cy="2879280"/>
          </a:xfrm>
          <a:prstGeom prst="roundRect">
            <a:avLst>
              <a:gd name="adj" fmla="val 3425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2" name="Shape 43"/>
          <p:cNvSpPr/>
          <p:nvPr/>
        </p:nvSpPr>
        <p:spPr>
          <a:xfrm>
            <a:off x="6675120" y="2194560"/>
            <a:ext cx="456120" cy="45612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3" name="Text 44"/>
          <p:cNvSpPr/>
          <p:nvPr/>
        </p:nvSpPr>
        <p:spPr>
          <a:xfrm>
            <a:off x="6675120" y="2194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45"/>
          <p:cNvSpPr/>
          <p:nvPr/>
        </p:nvSpPr>
        <p:spPr>
          <a:xfrm>
            <a:off x="6675120" y="2834640"/>
            <a:ext cx="21567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Restrict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46"/>
          <p:cNvSpPr/>
          <p:nvPr/>
        </p:nvSpPr>
        <p:spPr>
          <a:xfrm>
            <a:off x="6675120" y="3291840"/>
            <a:ext cx="2156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Repeat controls vs. controls+raw-TiO₂ only inside the mapped USGS mare-proxy mask.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47"/>
          <p:cNvSpPr/>
          <p:nvPr/>
        </p:nvSpPr>
        <p:spPr>
          <a:xfrm>
            <a:off x="9070920" y="301752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E3B66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8"/>
          <p:cNvSpPr/>
          <p:nvPr/>
        </p:nvSpPr>
        <p:spPr>
          <a:xfrm>
            <a:off x="9308520" y="1920240"/>
            <a:ext cx="2669040" cy="2879280"/>
          </a:xfrm>
          <a:prstGeom prst="roundRect">
            <a:avLst>
              <a:gd name="adj" fmla="val 3425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8" name="Shape 49"/>
          <p:cNvSpPr/>
          <p:nvPr/>
        </p:nvSpPr>
        <p:spPr>
          <a:xfrm>
            <a:off x="9564480" y="2194560"/>
            <a:ext cx="456120" cy="4561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50"/>
          <p:cNvSpPr/>
          <p:nvPr/>
        </p:nvSpPr>
        <p:spPr>
          <a:xfrm>
            <a:off x="9564480" y="2194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026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51"/>
          <p:cNvSpPr/>
          <p:nvPr/>
        </p:nvSpPr>
        <p:spPr>
          <a:xfrm>
            <a:off x="9564480" y="2834640"/>
            <a:ext cx="21567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Calibrate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52"/>
          <p:cNvSpPr/>
          <p:nvPr/>
        </p:nvSpPr>
        <p:spPr>
          <a:xfrm>
            <a:off x="9564480" y="3291840"/>
            <a:ext cx="21567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Match each statistic to its own spatial null, then inject H2 signals to measure power.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3"/>
          <p:cNvSpPr/>
          <p:nvPr/>
        </p:nvSpPr>
        <p:spPr>
          <a:xfrm>
            <a:off x="640080" y="5074920"/>
            <a:ext cx="108802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Why blocking still falls short: 30° (~910 km) and 60° (~1819 km) holdouts remain below the ~3752 km dependence range. Both nulls used the first 100 eligible 5/5-fold unique nonidentity shifts from 125 candidates. 12 four-fold candidates were rejected. Primary prevalence ≈ .0384 (10 nT, quantitative TiO₂).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2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5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7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8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0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1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2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3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4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5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6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7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8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59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0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AUDITABILITY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Reproducible evidence still has design limits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30"/>
          <p:cNvSpPr/>
          <p:nvPr/>
        </p:nvSpPr>
        <p:spPr>
          <a:xfrm>
            <a:off x="640080" y="1874520"/>
            <a:ext cx="5256720" cy="1782000"/>
          </a:xfrm>
          <a:prstGeom prst="roundRect">
            <a:avLst>
              <a:gd name="adj" fmla="val 51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4" name="Shape 31"/>
          <p:cNvSpPr/>
          <p:nvPr/>
        </p:nvSpPr>
        <p:spPr>
          <a:xfrm>
            <a:off x="960120" y="2258640"/>
            <a:ext cx="218520" cy="21852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 32"/>
          <p:cNvSpPr/>
          <p:nvPr/>
        </p:nvSpPr>
        <p:spPr>
          <a:xfrm>
            <a:off x="1325880" y="214884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Repository self-attestation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3"/>
          <p:cNvSpPr/>
          <p:nvPr/>
        </p:nvSpPr>
        <p:spPr>
          <a:xfrm>
            <a:off x="960120" y="2715840"/>
            <a:ext cx="4616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Author-declared plan only, not an independently timestamped preregistration. v1.0.0 is superseded.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4"/>
          <p:cNvSpPr/>
          <p:nvPr/>
        </p:nvSpPr>
        <p:spPr>
          <a:xfrm>
            <a:off x="6263640" y="1874520"/>
            <a:ext cx="5256720" cy="1782000"/>
          </a:xfrm>
          <a:prstGeom prst="roundRect">
            <a:avLst>
              <a:gd name="adj" fmla="val 51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8" name="Shape 35"/>
          <p:cNvSpPr/>
          <p:nvPr/>
        </p:nvSpPr>
        <p:spPr>
          <a:xfrm>
            <a:off x="6583680" y="2258640"/>
            <a:ext cx="218520" cy="2185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 36"/>
          <p:cNvSpPr/>
          <p:nvPr/>
        </p:nvSpPr>
        <p:spPr>
          <a:xfrm>
            <a:off x="6949440" y="214884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Logical-fallacy audit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37"/>
          <p:cNvSpPr/>
          <p:nvPr/>
        </p:nvSpPr>
        <p:spPr>
          <a:xfrm>
            <a:off x="6583680" y="2715840"/>
            <a:ext cx="4616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Inference traps are documented and corrected in the open, including the matched H2 null.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38"/>
          <p:cNvSpPr/>
          <p:nvPr/>
        </p:nvSpPr>
        <p:spPr>
          <a:xfrm>
            <a:off x="640080" y="3977640"/>
            <a:ext cx="5256720" cy="1782000"/>
          </a:xfrm>
          <a:prstGeom prst="roundRect">
            <a:avLst>
              <a:gd name="adj" fmla="val 51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9"/>
          <p:cNvSpPr/>
          <p:nvPr/>
        </p:nvSpPr>
        <p:spPr>
          <a:xfrm>
            <a:off x="960120" y="4361760"/>
            <a:ext cx="218520" cy="21852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 40"/>
          <p:cNvSpPr/>
          <p:nvPr/>
        </p:nvSpPr>
        <p:spPr>
          <a:xfrm>
            <a:off x="1325880" y="425196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Fail-closed provenance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41"/>
          <p:cNvSpPr/>
          <p:nvPr/>
        </p:nvSpPr>
        <p:spPr>
          <a:xfrm>
            <a:off x="960120" y="4818960"/>
            <a:ext cx="4616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Hashes, real/synthetic guards and mare-mask alignment are enforced in code.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42"/>
          <p:cNvSpPr/>
          <p:nvPr/>
        </p:nvSpPr>
        <p:spPr>
          <a:xfrm>
            <a:off x="6263640" y="3977640"/>
            <a:ext cx="5256720" cy="1782000"/>
          </a:xfrm>
          <a:prstGeom prst="roundRect">
            <a:avLst>
              <a:gd name="adj" fmla="val 5128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6" name="Shape 43"/>
          <p:cNvSpPr/>
          <p:nvPr/>
        </p:nvSpPr>
        <p:spPr>
          <a:xfrm>
            <a:off x="6583680" y="4361760"/>
            <a:ext cx="218520" cy="21852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77" name="Text 44"/>
          <p:cNvSpPr/>
          <p:nvPr/>
        </p:nvSpPr>
        <p:spPr>
          <a:xfrm>
            <a:off x="6949440" y="4251960"/>
            <a:ext cx="4250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Automated tests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45"/>
          <p:cNvSpPr/>
          <p:nvPr/>
        </p:nvSpPr>
        <p:spPr>
          <a:xfrm>
            <a:off x="6583680" y="4818960"/>
            <a:ext cx="4616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Guards cover provenance, terrain validity, power gating and report claims.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2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3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4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5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6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7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0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1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2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3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4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8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9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0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1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2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3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4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5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6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07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THE RESULT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The full Ti family adds only a small descriptive increment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30"/>
          <p:cNvSpPr/>
          <p:nvPr/>
        </p:nvSpPr>
        <p:spPr>
          <a:xfrm>
            <a:off x="640080" y="1783080"/>
            <a:ext cx="5851080" cy="3976560"/>
          </a:xfrm>
          <a:prstGeom prst="roundRect">
            <a:avLst>
              <a:gd name="adj" fmla="val 2299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0" name="Text 31"/>
          <p:cNvSpPr/>
          <p:nvPr/>
        </p:nvSpPr>
        <p:spPr>
          <a:xfrm>
            <a:off x="868680" y="1920240"/>
            <a:ext cx="5393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Held-out continuous R² (descriptive)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1" name="Chart 0"/>
          <p:cNvGraphicFramePr/>
          <p:nvPr/>
        </p:nvGraphicFramePr>
        <p:xfrm>
          <a:off x="777240" y="2286000"/>
          <a:ext cx="5576760" cy="3290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12" name="Shape 32"/>
          <p:cNvSpPr/>
          <p:nvPr/>
        </p:nvSpPr>
        <p:spPr>
          <a:xfrm>
            <a:off x="6720840" y="1783080"/>
            <a:ext cx="4799520" cy="894960"/>
          </a:xfrm>
          <a:prstGeom prst="roundRect">
            <a:avLst>
              <a:gd name="adj" fmla="val 10204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 33"/>
          <p:cNvSpPr/>
          <p:nvPr/>
        </p:nvSpPr>
        <p:spPr>
          <a:xfrm>
            <a:off x="6995160" y="1892880"/>
            <a:ext cx="21020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ΔR² −.0146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4"/>
          <p:cNvSpPr/>
          <p:nvPr/>
        </p:nvSpPr>
        <p:spPr>
          <a:xfrm>
            <a:off x="9144000" y="1892880"/>
            <a:ext cx="214776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controls .3649 → .3503 with full Ti family. Descriptive only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35"/>
          <p:cNvSpPr/>
          <p:nvPr/>
        </p:nvSpPr>
        <p:spPr>
          <a:xfrm>
            <a:off x="6720840" y="2788920"/>
            <a:ext cx="4799520" cy="894960"/>
          </a:xfrm>
          <a:prstGeom prst="roundRect">
            <a:avLst>
              <a:gd name="adj" fmla="val 10204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 36"/>
          <p:cNvSpPr/>
          <p:nvPr/>
        </p:nvSpPr>
        <p:spPr>
          <a:xfrm>
            <a:off x="6995160" y="2898720"/>
            <a:ext cx="21020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ΔPR-AUC +.042444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7"/>
          <p:cNvSpPr/>
          <p:nvPr/>
        </p:nvSpPr>
        <p:spPr>
          <a:xfrm>
            <a:off x="9144000" y="2898720"/>
            <a:ext cx="214776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remove raw/buffered Ti + Ti×gravity interactions. Wilcoxon p unavailable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38"/>
          <p:cNvSpPr/>
          <p:nvPr/>
        </p:nvSpPr>
        <p:spPr>
          <a:xfrm>
            <a:off x="6720840" y="3794760"/>
            <a:ext cx="4799520" cy="894960"/>
          </a:xfrm>
          <a:prstGeom prst="roundRect">
            <a:avLst>
              <a:gd name="adj" fmla="val 10204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19" name="Text 39"/>
          <p:cNvSpPr/>
          <p:nvPr/>
        </p:nvSpPr>
        <p:spPr>
          <a:xfrm>
            <a:off x="6995160" y="3904560"/>
            <a:ext cx="21020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n_eff ≈ 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40"/>
          <p:cNvSpPr/>
          <p:nvPr/>
        </p:nvSpPr>
        <p:spPr>
          <a:xfrm>
            <a:off x="9144000" y="3904560"/>
            <a:ext cx="214776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30° 910 km holdout &lt; 3752 km dependence range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41"/>
          <p:cNvSpPr/>
          <p:nvPr/>
        </p:nvSpPr>
        <p:spPr>
          <a:xfrm>
            <a:off x="6720840" y="4818960"/>
            <a:ext cx="4799520" cy="1050480"/>
          </a:xfrm>
          <a:prstGeom prst="roundRect">
            <a:avLst>
              <a:gd name="adj" fmla="val 8696"/>
            </a:avLst>
          </a:prstGeom>
          <a:solidFill>
            <a:srgbClr val="2A1B24"/>
          </a:solidFill>
          <a:ln w="12700">
            <a:solidFill>
              <a:srgbClr val="E8795E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 42"/>
          <p:cNvSpPr/>
          <p:nvPr/>
        </p:nvSpPr>
        <p:spPr>
          <a:xfrm>
            <a:off x="6995160" y="4946760"/>
            <a:ext cx="4250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STATUS: INCONCLUSIVE_LOW_POWER · failure-to-detect, not disproof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43"/>
          <p:cNvSpPr/>
          <p:nvPr/>
        </p:nvSpPr>
        <p:spPr>
          <a:xfrm>
            <a:off x="6995160" y="5367600"/>
            <a:ext cx="4250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This spatial proxy result neither confirms nor refutes Nichols et al.'s temporal mechanism.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5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6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7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0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1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2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3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4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5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6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8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39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0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1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2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3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4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5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7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8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9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0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1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2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TERRAIN VALIDITY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Mapped mare-proxy TiO₂ remains descriptive and unstable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30"/>
          <p:cNvSpPr/>
          <p:nvPr/>
        </p:nvSpPr>
        <p:spPr>
          <a:xfrm>
            <a:off x="640080" y="1874520"/>
            <a:ext cx="4708080" cy="2742120"/>
          </a:xfrm>
          <a:prstGeom prst="roundRect">
            <a:avLst>
              <a:gd name="adj" fmla="val 3333"/>
            </a:avLst>
          </a:prstGeom>
          <a:solidFill>
            <a:srgbClr val="18213F"/>
          </a:solidFill>
          <a:ln w="12700">
            <a:solidFill>
              <a:srgbClr val="F2A93B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5" name="Text 31"/>
          <p:cNvSpPr/>
          <p:nvPr/>
        </p:nvSpPr>
        <p:spPr>
          <a:xfrm>
            <a:off x="914400" y="2148840"/>
            <a:ext cx="4159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Mapped mare-proxy binary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32"/>
          <p:cNvSpPr/>
          <p:nvPr/>
        </p:nvSpPr>
        <p:spPr>
          <a:xfrm>
            <a:off x="914400" y="2651760"/>
            <a:ext cx="4159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ΔPR-AUC +.055306. +TiO₂ .476561 versus controls .421255 (mare descriptive only).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3"/>
          <p:cNvSpPr/>
          <p:nvPr/>
        </p:nvSpPr>
        <p:spPr>
          <a:xfrm>
            <a:off x="914400" y="4069080"/>
            <a:ext cx="41594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n=3,928 · 165 positives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4"/>
          <p:cNvSpPr/>
          <p:nvPr/>
        </p:nvSpPr>
        <p:spPr>
          <a:xfrm>
            <a:off x="5532120" y="3017520"/>
            <a:ext cx="1004760" cy="456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879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59" name="Text 35"/>
          <p:cNvSpPr/>
          <p:nvPr/>
        </p:nvSpPr>
        <p:spPr>
          <a:xfrm>
            <a:off x="5140440" y="1554480"/>
            <a:ext cx="15991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6"/>
          <p:cNvSpPr/>
          <p:nvPr/>
        </p:nvSpPr>
        <p:spPr>
          <a:xfrm>
            <a:off x="6537960" y="1874520"/>
            <a:ext cx="4708080" cy="2742120"/>
          </a:xfrm>
          <a:prstGeom prst="roundRect">
            <a:avLst>
              <a:gd name="adj" fmla="val 3333"/>
            </a:avLst>
          </a:prstGeom>
          <a:solidFill>
            <a:srgbClr val="18213F"/>
          </a:solidFill>
          <a:ln w="12700">
            <a:solidFill>
              <a:srgbClr val="5AC8E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1" name="Text 37"/>
          <p:cNvSpPr/>
          <p:nvPr/>
        </p:nvSpPr>
        <p:spPr>
          <a:xfrm>
            <a:off x="6812280" y="2148840"/>
            <a:ext cx="4159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5AC8E6"/>
                </a:solidFill>
                <a:effectLst/>
                <a:uFillTx/>
                <a:latin typeface="Calibri"/>
                <a:ea typeface="Calibri"/>
              </a:rPr>
              <a:t>Mapped mare-proxy continuous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38"/>
          <p:cNvSpPr/>
          <p:nvPr/>
        </p:nvSpPr>
        <p:spPr>
          <a:xfrm>
            <a:off x="6812280" y="2651760"/>
            <a:ext cx="415944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Primary continuous R² .3649 → .3503. Raw-Ti increment +.014559±.012575. Common-fold gain vs full raw-Ti: +.001445.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9"/>
          <p:cNvSpPr/>
          <p:nvPr/>
        </p:nvSpPr>
        <p:spPr>
          <a:xfrm>
            <a:off x="6812280" y="4069080"/>
            <a:ext cx="41594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proxy range 3289 km · n_eff=1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40"/>
          <p:cNvSpPr/>
          <p:nvPr/>
        </p:nvSpPr>
        <p:spPr>
          <a:xfrm>
            <a:off x="640080" y="4892040"/>
            <a:ext cx="10880280" cy="1233360"/>
          </a:xfrm>
          <a:prstGeom prst="roundRect">
            <a:avLst>
              <a:gd name="adj" fmla="val 7407"/>
            </a:avLst>
          </a:prstGeom>
          <a:solidFill>
            <a:srgbClr val="1E2A4E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5" name="Text 41"/>
          <p:cNvSpPr/>
          <p:nvPr/>
        </p:nvSpPr>
        <p:spPr>
          <a:xfrm>
            <a:off x="914400" y="5074920"/>
            <a:ext cx="103316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Interpretation: Report binary and continuous estimands separately. Registered binary mare criterion did not pass. Continuous increments stay descriptive. Footprint still supplies ~one dependence-scale unit.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7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1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2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5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6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79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0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3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4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7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8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1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2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4" name="Text 28"/>
          <p:cNvSpPr/>
          <p:nvPr/>
        </p:nvSpPr>
        <p:spPr>
          <a:xfrm>
            <a:off x="640080" y="45720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2A93B"/>
                </a:solidFill>
                <a:effectLst/>
                <a:uFillTx/>
                <a:latin typeface="Calibri"/>
                <a:ea typeface="Calibri"/>
              </a:rPr>
              <a:t>INTELLECTUAL HONESTY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29"/>
          <p:cNvSpPr/>
          <p:nvPr/>
        </p:nvSpPr>
        <p:spPr>
          <a:xfrm>
            <a:off x="640080" y="86868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Three diagnostics set the inference ceiling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640080" y="1874520"/>
            <a:ext cx="6948360" cy="1096200"/>
          </a:xfrm>
          <a:prstGeom prst="roundRect">
            <a:avLst>
              <a:gd name="adj" fmla="val 8333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960120" y="2331720"/>
            <a:ext cx="181800" cy="18180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1325880" y="2075760"/>
            <a:ext cx="6125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Dependence exceeds blocks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33"/>
          <p:cNvSpPr/>
          <p:nvPr/>
        </p:nvSpPr>
        <p:spPr>
          <a:xfrm>
            <a:off x="1325880" y="2441520"/>
            <a:ext cx="6125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n_eff ≈ 1. Even 60° blocks (~1819 km) remain below the ~3752 km dependence range.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4"/>
          <p:cNvSpPr/>
          <p:nvPr/>
        </p:nvSpPr>
        <p:spPr>
          <a:xfrm>
            <a:off x="640080" y="3108960"/>
            <a:ext cx="6948360" cy="1096200"/>
          </a:xfrm>
          <a:prstGeom prst="roundRect">
            <a:avLst>
              <a:gd name="adj" fmla="val 8333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1" name="Shape 35"/>
          <p:cNvSpPr/>
          <p:nvPr/>
        </p:nvSpPr>
        <p:spPr>
          <a:xfrm>
            <a:off x="960120" y="3566160"/>
            <a:ext cx="181800" cy="18180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2" name="Text 36"/>
          <p:cNvSpPr/>
          <p:nvPr/>
        </p:nvSpPr>
        <p:spPr>
          <a:xfrm>
            <a:off x="1325880" y="3310200"/>
            <a:ext cx="6125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Matched H2 benchmark recovered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7"/>
          <p:cNvSpPr/>
          <p:nvPr/>
        </p:nvSpPr>
        <p:spPr>
          <a:xfrm>
            <a:off x="1325880" y="3675960"/>
            <a:ext cx="6125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Full PR-AUC .394936 vs fold-matched null mean .231862, SD .103869 and 95th .490983 (p=.137931). H2 match p=.172414 (not recovered).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38"/>
          <p:cNvSpPr/>
          <p:nvPr/>
        </p:nvSpPr>
        <p:spPr>
          <a:xfrm>
            <a:off x="640080" y="4343400"/>
            <a:ext cx="6948360" cy="1096200"/>
          </a:xfrm>
          <a:prstGeom prst="roundRect">
            <a:avLst>
              <a:gd name="adj" fmla="val 8333"/>
            </a:avLst>
          </a:prstGeom>
          <a:solidFill>
            <a:srgbClr val="18213F"/>
          </a:solidFill>
          <a:ln w="12700">
            <a:solidFill>
              <a:srgbClr val="2E3B66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5" name="Shape 39"/>
          <p:cNvSpPr/>
          <p:nvPr/>
        </p:nvSpPr>
        <p:spPr>
          <a:xfrm>
            <a:off x="960120" y="4800600"/>
            <a:ext cx="181800" cy="18180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6" name="Text 40"/>
          <p:cNvSpPr/>
          <p:nvPr/>
        </p:nvSpPr>
        <p:spPr>
          <a:xfrm>
            <a:off x="1325880" y="4544640"/>
            <a:ext cx="6125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Power floor is not adequate power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41"/>
          <p:cNvSpPr/>
          <p:nvPr/>
        </p:nvSpPr>
        <p:spPr>
          <a:xfrm>
            <a:off x="1325880" y="4910400"/>
            <a:ext cx="6125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H2 recovery at β=0/.5/1/1.5/2/3-4: 3/30, 18/30, 27/30, 28/30, 29/30, 30/30. Point MDE β=1. Wilson-lower MDE β=2.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2"/>
          <p:cNvSpPr/>
          <p:nvPr/>
        </p:nvSpPr>
        <p:spPr>
          <a:xfrm>
            <a:off x="7818120" y="1874520"/>
            <a:ext cx="3702240" cy="3519360"/>
          </a:xfrm>
          <a:prstGeom prst="roundRect">
            <a:avLst>
              <a:gd name="adj" fmla="val 2597"/>
            </a:avLst>
          </a:prstGeom>
          <a:solidFill>
            <a:srgbClr val="1E2A4E"/>
          </a:solidFill>
          <a:ln w="12700">
            <a:solidFill>
              <a:srgbClr val="F2A93B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09" name="Text 43"/>
          <p:cNvSpPr/>
          <p:nvPr/>
        </p:nvSpPr>
        <p:spPr>
          <a:xfrm>
            <a:off x="8001000" y="1828800"/>
            <a:ext cx="913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600" b="1" u="none" strike="noStrike">
                <a:solidFill>
                  <a:srgbClr val="F2A93B"/>
                </a:solidFill>
                <a:effectLst/>
                <a:uFillTx/>
                <a:latin typeface="Cambria"/>
                <a:ea typeface="Cambria"/>
              </a:rPr>
              <a:t>“</a:t>
            </a:r>
            <a:endParaRPr lang="en-US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44"/>
          <p:cNvSpPr/>
          <p:nvPr/>
        </p:nvSpPr>
        <p:spPr>
          <a:xfrm>
            <a:off x="8092440" y="2788920"/>
            <a:ext cx="319932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INCONCLUSIVE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LOW POWER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5"/>
          <p:cNvSpPr/>
          <p:nvPr/>
        </p:nvSpPr>
        <p:spPr>
          <a:xfrm>
            <a:off x="8092440" y="4800600"/>
            <a:ext cx="31993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9AA7C7"/>
                </a:solidFill>
                <a:effectLst/>
                <a:uFillTx/>
                <a:latin typeface="Calibri"/>
                <a:ea typeface="Calibri"/>
              </a:rPr>
              <a:t>Failure-to-detect, not disproof. β=1 implies risk +.0557, OR≈607; no justified target effect.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0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0"/>
          <p:cNvSpPr/>
          <p:nvPr/>
        </p:nvSpPr>
        <p:spPr>
          <a:xfrm>
            <a:off x="548640" y="6400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3" name="Shape 1"/>
          <p:cNvSpPr/>
          <p:nvPr/>
        </p:nvSpPr>
        <p:spPr>
          <a:xfrm>
            <a:off x="1280160" y="11887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4" name="Shape 2"/>
          <p:cNvSpPr/>
          <p:nvPr/>
        </p:nvSpPr>
        <p:spPr>
          <a:xfrm>
            <a:off x="1920240" y="45720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5" name="Shape 3"/>
          <p:cNvSpPr/>
          <p:nvPr/>
        </p:nvSpPr>
        <p:spPr>
          <a:xfrm>
            <a:off x="2926080" y="9144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4"/>
          <p:cNvSpPr/>
          <p:nvPr/>
        </p:nvSpPr>
        <p:spPr>
          <a:xfrm>
            <a:off x="822960" y="21945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7" name="Shape 5"/>
          <p:cNvSpPr/>
          <p:nvPr/>
        </p:nvSpPr>
        <p:spPr>
          <a:xfrm>
            <a:off x="1645920" y="3017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8" name="Shape 6"/>
          <p:cNvSpPr/>
          <p:nvPr/>
        </p:nvSpPr>
        <p:spPr>
          <a:xfrm>
            <a:off x="457200" y="384048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19" name="Shape 7"/>
          <p:cNvSpPr/>
          <p:nvPr/>
        </p:nvSpPr>
        <p:spPr>
          <a:xfrm>
            <a:off x="1097280" y="46634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0" name="Shape 8"/>
          <p:cNvSpPr/>
          <p:nvPr/>
        </p:nvSpPr>
        <p:spPr>
          <a:xfrm>
            <a:off x="731520" y="56692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1" name="Shape 9"/>
          <p:cNvSpPr/>
          <p:nvPr/>
        </p:nvSpPr>
        <p:spPr>
          <a:xfrm>
            <a:off x="2194560" y="60350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2" name="Shape 10"/>
          <p:cNvSpPr/>
          <p:nvPr/>
        </p:nvSpPr>
        <p:spPr>
          <a:xfrm>
            <a:off x="11612880" y="5486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1"/>
          <p:cNvSpPr/>
          <p:nvPr/>
        </p:nvSpPr>
        <p:spPr>
          <a:xfrm>
            <a:off x="10881360" y="128016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4" name="Shape 12"/>
          <p:cNvSpPr/>
          <p:nvPr/>
        </p:nvSpPr>
        <p:spPr>
          <a:xfrm>
            <a:off x="11795760" y="21031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5" name="Shape 13"/>
          <p:cNvSpPr/>
          <p:nvPr/>
        </p:nvSpPr>
        <p:spPr>
          <a:xfrm>
            <a:off x="11247120" y="29260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6" name="Shape 14"/>
          <p:cNvSpPr/>
          <p:nvPr/>
        </p:nvSpPr>
        <p:spPr>
          <a:xfrm>
            <a:off x="11704320" y="374904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7" name="Shape 15"/>
          <p:cNvSpPr/>
          <p:nvPr/>
        </p:nvSpPr>
        <p:spPr>
          <a:xfrm>
            <a:off x="11064240" y="45720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8" name="Shape 16"/>
          <p:cNvSpPr/>
          <p:nvPr/>
        </p:nvSpPr>
        <p:spPr>
          <a:xfrm>
            <a:off x="11521440" y="53949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9" name="Shape 17"/>
          <p:cNvSpPr/>
          <p:nvPr/>
        </p:nvSpPr>
        <p:spPr>
          <a:xfrm>
            <a:off x="10607040" y="594360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18"/>
          <p:cNvSpPr/>
          <p:nvPr/>
        </p:nvSpPr>
        <p:spPr>
          <a:xfrm>
            <a:off x="9875520" y="45720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1" name="Shape 19"/>
          <p:cNvSpPr/>
          <p:nvPr/>
        </p:nvSpPr>
        <p:spPr>
          <a:xfrm>
            <a:off x="9052560" y="73152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2" name="Shape 20"/>
          <p:cNvSpPr/>
          <p:nvPr/>
        </p:nvSpPr>
        <p:spPr>
          <a:xfrm>
            <a:off x="6126480" y="36576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3" name="Shape 21"/>
          <p:cNvSpPr/>
          <p:nvPr/>
        </p:nvSpPr>
        <p:spPr>
          <a:xfrm>
            <a:off x="4206240" y="54864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4" name="Shape 22"/>
          <p:cNvSpPr/>
          <p:nvPr/>
        </p:nvSpPr>
        <p:spPr>
          <a:xfrm>
            <a:off x="7406640" y="6400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5" name="Shape 23"/>
          <p:cNvSpPr/>
          <p:nvPr/>
        </p:nvSpPr>
        <p:spPr>
          <a:xfrm>
            <a:off x="3566160" y="612648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6" name="Shape 24"/>
          <p:cNvSpPr/>
          <p:nvPr/>
        </p:nvSpPr>
        <p:spPr>
          <a:xfrm>
            <a:off x="5120640" y="6217920"/>
            <a:ext cx="44640" cy="44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25"/>
          <p:cNvSpPr/>
          <p:nvPr/>
        </p:nvSpPr>
        <p:spPr>
          <a:xfrm>
            <a:off x="6675120" y="6035040"/>
            <a:ext cx="26280" cy="2628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8" name="Shape 26"/>
          <p:cNvSpPr/>
          <p:nvPr/>
        </p:nvSpPr>
        <p:spPr>
          <a:xfrm>
            <a:off x="8321040" y="6126480"/>
            <a:ext cx="26280" cy="2628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39" name="Shape 27"/>
          <p:cNvSpPr/>
          <p:nvPr/>
        </p:nvSpPr>
        <p:spPr>
          <a:xfrm>
            <a:off x="9692640" y="5943600"/>
            <a:ext cx="44640" cy="44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320" tIns="-12600" rIns="22320" bIns="-12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0" name="Shape 28"/>
          <p:cNvSpPr/>
          <p:nvPr/>
        </p:nvSpPr>
        <p:spPr>
          <a:xfrm>
            <a:off x="8400960" y="354240"/>
            <a:ext cx="3313800" cy="331380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1" name="Shape 29"/>
          <p:cNvSpPr/>
          <p:nvPr/>
        </p:nvSpPr>
        <p:spPr>
          <a:xfrm>
            <a:off x="8709840" y="663120"/>
            <a:ext cx="2696400" cy="269640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2" name="Shape 30"/>
          <p:cNvSpPr/>
          <p:nvPr/>
        </p:nvSpPr>
        <p:spPr>
          <a:xfrm>
            <a:off x="8915400" y="868680"/>
            <a:ext cx="2284920" cy="228492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3" name="Shape 31"/>
          <p:cNvSpPr/>
          <p:nvPr/>
        </p:nvSpPr>
        <p:spPr>
          <a:xfrm>
            <a:off x="9498240" y="1566000"/>
            <a:ext cx="318960" cy="3189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32"/>
          <p:cNvSpPr/>
          <p:nvPr/>
        </p:nvSpPr>
        <p:spPr>
          <a:xfrm>
            <a:off x="10275480" y="2000160"/>
            <a:ext cx="250560" cy="2505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5" name="Shape 33"/>
          <p:cNvSpPr/>
          <p:nvPr/>
        </p:nvSpPr>
        <p:spPr>
          <a:xfrm>
            <a:off x="9841320" y="2365920"/>
            <a:ext cx="204840" cy="20484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6" name="Shape 34"/>
          <p:cNvSpPr/>
          <p:nvPr/>
        </p:nvSpPr>
        <p:spPr>
          <a:xfrm>
            <a:off x="10155600" y="1423080"/>
            <a:ext cx="147600" cy="14760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800" tIns="45000" rIns="738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7" name="Text 35"/>
          <p:cNvSpPr/>
          <p:nvPr/>
        </p:nvSpPr>
        <p:spPr>
          <a:xfrm>
            <a:off x="640080" y="1965960"/>
            <a:ext cx="868572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EAF0FF"/>
                </a:solidFill>
                <a:effectLst/>
                <a:uFillTx/>
                <a:latin typeface="Cambria"/>
                <a:ea typeface="Cambria"/>
              </a:rPr>
              <a:t>The next test must be time-resolved.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36"/>
          <p:cNvSpPr/>
          <p:nvPr/>
        </p:nvSpPr>
        <p:spPr>
          <a:xfrm>
            <a:off x="685800" y="3611880"/>
            <a:ext cx="163440" cy="163440"/>
          </a:xfrm>
          <a:prstGeom prst="ellipse">
            <a:avLst/>
          </a:prstGeom>
          <a:solidFill>
            <a:srgbClr val="F2A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1720" tIns="45000" rIns="81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 37"/>
          <p:cNvSpPr/>
          <p:nvPr/>
        </p:nvSpPr>
        <p:spPr>
          <a:xfrm>
            <a:off x="1051560" y="3566160"/>
            <a:ext cx="85942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Treat this as a surface-proxy spatial study, not a temporal dynamo test.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38"/>
          <p:cNvSpPr/>
          <p:nvPr/>
        </p:nvSpPr>
        <p:spPr>
          <a:xfrm>
            <a:off x="685800" y="4270320"/>
            <a:ext cx="163440" cy="16344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1720" tIns="45000" rIns="81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51" name="Text 39"/>
          <p:cNvSpPr/>
          <p:nvPr/>
        </p:nvSpPr>
        <p:spPr>
          <a:xfrm>
            <a:off x="1051560" y="4224600"/>
            <a:ext cx="85942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Use dated samples or time-resolved proxies to test the Nichols mechanism directly.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40"/>
          <p:cNvSpPr/>
          <p:nvPr/>
        </p:nvSpPr>
        <p:spPr>
          <a:xfrm>
            <a:off x="685800" y="4928760"/>
            <a:ext cx="163440" cy="163440"/>
          </a:xfrm>
          <a:prstGeom prst="ellipse">
            <a:avLst/>
          </a:prstGeom>
          <a:solidFill>
            <a:srgbClr val="5AC8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1720" tIns="45000" rIns="8172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53" name="Text 41"/>
          <p:cNvSpPr/>
          <p:nvPr/>
        </p:nvSpPr>
        <p:spPr>
          <a:xfrm>
            <a:off x="1051560" y="4883040"/>
            <a:ext cx="85942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Expand calibrated TiO₂ coverage and use dependence-scale blocks before any negative claim.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42"/>
          <p:cNvSpPr/>
          <p:nvPr/>
        </p:nvSpPr>
        <p:spPr>
          <a:xfrm>
            <a:off x="640080" y="598932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r>
              <a:rPr lang="en-US" sz="15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Thank you · Jack Wu (lemoon01110) · ORCID 0009-0004-1710-9018 · v2.0.0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AF0FF"/>
                </a:solidFill>
                <a:effectLst/>
                <a:uFillTx/>
                <a:latin typeface="Calibri"/>
                <a:ea typeface="Calibri"/>
              </a:rPr>
              <a:t>github.com/lemoon01110/Lunar-Titanium-Magnetism · code MIT · paper CC BY 4.0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2026-07-17T23:36:23Z</dcterms:created>
  <dc:creator>Walnut Exporter</dc:creator>
  <dc:description/>
  <dc:language>en-US</dc:language>
  <cp:lastModifiedBy/>
  <dcterms:modified xsi:type="dcterms:W3CDTF">2026-07-19T12:28:01Z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