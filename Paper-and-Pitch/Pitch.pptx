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63c8f0e8255406d" Type="http://schemas.openxmlformats.org/package/2006/relationships/metadata/core-properties" Target="docProps/core.xml"/><Relationship Id="Rae960d9bb69e4832" Type="http://schemas.openxmlformats.org/officeDocument/2006/relationships/extended-properties" Target="docProps/app.xml"/><Relationship Id="Rbcbb25b46f164d5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b777ad7bb04d04"/>
  </p:sldMasterIdLst>
  <p:sldIdLst>
    <p:sldId xmlns:ns0="http://schemas.openxmlformats.org/officeDocument/2006/relationships" id="267" ns0:id="rId16"/>
    <p:sldId xmlns:r="http://schemas.openxmlformats.org/officeDocument/2006/relationships" id="256" r:id="Red3ed0dd0cf04a76"/>
    <p:sldId xmlns:r="http://schemas.openxmlformats.org/officeDocument/2006/relationships" id="257" r:id="Reb73d3d5554e4a10"/>
    <p:sldId xmlns:r="http://schemas.openxmlformats.org/officeDocument/2006/relationships" id="258" r:id="R06cdf80096134266"/>
    <p:sldId xmlns:r="http://schemas.openxmlformats.org/officeDocument/2006/relationships" id="259" r:id="R98ce4bc5d6a149ed"/>
    <p:sldId xmlns:r="http://schemas.openxmlformats.org/officeDocument/2006/relationships" id="260" r:id="R52af155a88e44ea6"/>
    <p:sldId xmlns:r="http://schemas.openxmlformats.org/officeDocument/2006/relationships" id="261" r:id="Rf9ea2e97723f4545"/>
    <p:sldId xmlns:r="http://schemas.openxmlformats.org/officeDocument/2006/relationships" id="262" r:id="R261727462de04e3f"/>
    <p:sldId xmlns:r="http://schemas.openxmlformats.org/officeDocument/2006/relationships" id="263" r:id="Rc3aa0c14beff47d2"/>
    <p:sldId xmlns:r="http://schemas.openxmlformats.org/officeDocument/2006/relationships" id="264" r:id="Rfaaea65a11074022"/>
    <p:sldId xmlns:r="http://schemas.openxmlformats.org/officeDocument/2006/relationships" id="265" r:id="Rda3b28f8b7414c66"/>
    <p:sldId xmlns:r="http://schemas.openxmlformats.org/officeDocument/2006/relationships" id="266" r:id="R4e555600177b40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cdf80096134266" Type="http://schemas.openxmlformats.org/officeDocument/2006/relationships/slide" Target="slides/slide4.xml"/><Relationship Id="R261727462de04e3f" Type="http://schemas.openxmlformats.org/officeDocument/2006/relationships/slide" Target="slides/slide8.xml"/><Relationship Id="R4e555600177b40e0" Type="http://schemas.openxmlformats.org/officeDocument/2006/relationships/slide" Target="slides/slide12.xml"/><Relationship Id="R52af155a88e44ea6" Type="http://schemas.openxmlformats.org/officeDocument/2006/relationships/slide" Target="slides/slide6.xml"/><Relationship Id="R98ce4bc5d6a149ed" Type="http://schemas.openxmlformats.org/officeDocument/2006/relationships/slide" Target="slides/slide5.xml"/><Relationship Id="R9a2c2be0774f42d3" Type="http://schemas.openxmlformats.org/officeDocument/2006/relationships/presProps" Target="presProps.xml"/><Relationship Id="Rb2b777ad7bb04d04" Type="http://schemas.openxmlformats.org/officeDocument/2006/relationships/slideMaster" Target="slideMasters/slideMaster1.xml"/><Relationship Id="Rb48bc3be8a954e14" Type="http://schemas.openxmlformats.org/officeDocument/2006/relationships/tableStyles" Target="tableStyles.xml"/><Relationship Id="Rc3aa0c14beff47d2" Type="http://schemas.openxmlformats.org/officeDocument/2006/relationships/slide" Target="slides/slide9.xml"/><Relationship Id="Rda3b28f8b7414c66" Type="http://schemas.openxmlformats.org/officeDocument/2006/relationships/slide" Target="slides/slide11.xml"/><Relationship Id="Reb73d3d5554e4a10" Type="http://schemas.openxmlformats.org/officeDocument/2006/relationships/slide" Target="slides/slide3.xml"/><Relationship Id="Red3ed0dd0cf04a76" Type="http://schemas.openxmlformats.org/officeDocument/2006/relationships/slide" Target="slides/slide2.xml"/><Relationship Id="Rf9ea2e97723f4545" Type="http://schemas.openxmlformats.org/officeDocument/2006/relationships/slide" Target="slides/slide7.xml"/><Relationship Id="Rfaaea65a11074022" Type="http://schemas.openxmlformats.org/officeDocument/2006/relationships/slide" Target="slides/slide10.xml"/><Relationship Id="Rfb503942820d489c" Type="http://schemas.openxmlformats.org/officeDocument/2006/relationships/theme" Target="theme/theme1.xml"/><Relationship Id="rId1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9d3db7d0ccbb4bc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2743f2650474524" Type="http://schemas.openxmlformats.org/officeDocument/2006/relationships/theme" Target="theme/theme2.xml"/><Relationship Id="R3cb8969260c6412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3F85401-E6D0-44E4-B057-3DB74CD49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 to 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edit 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title 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text 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65CEA9A-4C69-41CA-ABEE-C57AA31420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indent="-324000" algn="l">
              <a:spcBef>
                <a:spcPts val="1417"/>
              </a:spcBef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b8969260c6412a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0acd23744d4466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a7e72c1dfea84da8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34dedc7f49f4d4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bf31e09095314e1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b9fd00e4d4bb46c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e2b49c9205c342a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1ae49f1cff84cff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8363c8ba0a741ba" Type="http://schemas.openxmlformats.org/officeDocument/2006/relationships/chart" Target="charts/chart1.xml"/><Relationship Id="R5408c3f6be024c2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adea4b3d15cf41f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9cb393ea1dca47cb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7dd6505b01f4d00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roundedCorners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Held-out R²</c:v>
                </c:pt>
              </c:strCache>
            </c:strRef>
          </c:tx>
          <c:spPr>
            <a:solidFill xmlns:a="http://schemas.openxmlformats.org/drawingml/2006/main">
              <a:srgbClr val="F2A93B"/>
            </a:solidFill>
            <a:ln xmlns:a="http://schemas.openxmlformats.org/drawingml/2006/main" w="0">
              <a:noFill/>
            </a:ln>
          </c:spPr>
          <c:dPt>
            <c:idx val="0"/>
            <c:spPr>
              <a:solidFill xmlns:a="http://schemas.openxmlformats.org/drawingml/2006/main">
                <a:srgbClr val="F2A93B"/>
              </a:solidFill>
              <a:ln xmlns:a="http://schemas.openxmlformats.org/drawingml/2006/main" w="0">
                <a:noFill/>
              </a:ln>
            </c:spPr>
          </c:dPt>
          <c:dPt>
            <c:idx val="1"/>
            <c:spPr>
              <a:solidFill xmlns:a="http://schemas.openxmlformats.org/drawingml/2006/main">
                <a:srgbClr val="5AC8E6"/>
              </a:solidFill>
              <a:ln xmlns:a="http://schemas.openxmlformats.org/drawingml/2006/main" w="0">
                <a:noFill/>
              </a:ln>
            </c:spPr>
          </c:dPt>
          <c:dPt>
            <c:idx val="2"/>
            <c:spPr>
              <a:solidFill xmlns:a="http://schemas.openxmlformats.org/drawingml/2006/main">
                <a:srgbClr val="9AA7C7"/>
              </a:solidFill>
              <a:ln xmlns:a="http://schemas.openxmlformats.org/drawingml/2006/main" w="0">
                <a:noFill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 u="none">
                      <a:solidFill>
                        <a:srgbClr val="EAF0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 u="none">
                      <a:solidFill>
                        <a:srgbClr val="EAF0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 u="none">
                      <a:solidFill>
                        <a:srgbClr val="EAF0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</c:dLbl>
            <c:numFmt formatCode="0.0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u="none">
                    <a:solidFill>
                      <a:srgbClr val="EAF0F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3"/>
                <c:pt idx="0">
                  <c:v>Controls R²</c:v>
                </c:pt>
                <c:pt idx="1">
                  <c:v>+ Ti family R²</c:v>
                </c:pt>
                <c:pt idx="2">
                  <c:v>Increment ΔR²</c:v>
                </c:pt>
              </c:strCache>
            </c:strRef>
          </c:cat>
          <c:val>
            <c:numRef>
              <c:f>0</c:f>
              <c:numCache>
                <c:formatCode>0.000</c:formatCode>
                <c:ptCount val="3"/>
                <c:pt idx="0">
                  <c:v>0.259</c:v>
                </c:pt>
                <c:pt idx="1">
                  <c:v>0.2712</c:v>
                </c:pt>
                <c:pt idx="2">
                  <c:v>0.0121</c:v>
                </c:pt>
              </c:numCache>
            </c:numRef>
          </c:val>
        </c:ser>
        <c:dLbls/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600">
            <a:solidFill>
              <a:srgbClr val="2E3B6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u="none">
                <a:solidFill>
                  <a:srgbClr val="EAF0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12600">
              <a:solidFill>
                <a:srgbClr val="2E3B66"/>
              </a:solidFill>
            </a:ln>
          </c:spPr>
        </c:majorGridlines>
        <c:numFmt formatCode="0.00" sourceLinked="0"/>
        <c:majorUnit val="0.05"/>
        <c:majorTickMark val="out"/>
        <c:minorTickMark val="none"/>
        <c:tickLblPos val="nextTo"/>
        <c:spPr>
          <a:ln xmlns:a="http://schemas.openxmlformats.org/drawingml/2006/main" w="12600">
            <a:solidFill>
              <a:srgbClr val="2E3B6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u="none">
                <a:solidFill>
                  <a:srgbClr val="9AA7C7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8213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8213F"/>
    </a:solidFill>
    <a:ln xmlns:a="http://schemas.openxmlformats.org/drawingml/2006/main" w="0">
      <a:noFill/>
    </a:ln>
  </c:spPr>
</c:chartSpace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200">
                <a:solidFill>
                  <a:srgbClr val="FF0000"/>
                </a:solidFill>
              </a:defRPr>
            </a:pPr>
            <a:r>
              <a:t>EDUCATIONAL &amp; AI-ASSISTED PROJECT</a:t>
            </a:r>
          </a:p>
          <a:p>
            <a:br/>
            <a:pPr>
              <a:defRPr sz="2400"/>
            </a:pPr>
            <a:r>
              <a:t>This presentation and the accompanying repository are a personal project created for learning and hands-on experience.</a:t>
            </a:r>
          </a:p>
          <a:p>
            <a:br/>
            <a:pPr>
              <a:defRPr sz="2400"/>
            </a:pPr>
            <a:r>
              <a:t>Artificial Intelligence (Large Language Models) was used extensively throughout its development to help write the code, understand the geophysical concepts, and rigorously catch statistical and logical errors.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 0">
            <a:extLst xmlns:a="http://schemas.openxmlformats.org/drawingml/2006/main">
              <a:ext uri="{FF2B5EF4-FFF2-40B4-BE49-F238E27FC236}">
                <a16:creationId xmlns:a16="http://schemas.microsoft.com/office/drawing/2014/main" id="{56E2E0D4-FA49-4845-A128-9BF342E4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hape 1">
            <a:extLst xmlns:a="http://schemas.openxmlformats.org/drawingml/2006/main">
              <a:ext uri="{FF2B5EF4-FFF2-40B4-BE49-F238E27FC236}">
                <a16:creationId xmlns:a16="http://schemas.microsoft.com/office/drawing/2014/main" id="{DB04A7FD-0D26-4675-AA5F-52191A7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Shape 2">
            <a:extLst xmlns:a="http://schemas.openxmlformats.org/drawingml/2006/main">
              <a:ext uri="{FF2B5EF4-FFF2-40B4-BE49-F238E27FC236}">
                <a16:creationId xmlns:a16="http://schemas.microsoft.com/office/drawing/2014/main" id="{FCC136C9-B823-4FC9-8449-62B46EC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885B137E-7ECC-401D-AAF6-89740E6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E4E2D7BC-3066-4555-B80C-0FDBD68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Shape 5">
            <a:extLst xmlns:a="http://schemas.openxmlformats.org/drawingml/2006/main">
              <a:ext uri="{FF2B5EF4-FFF2-40B4-BE49-F238E27FC236}">
                <a16:creationId xmlns:a16="http://schemas.microsoft.com/office/drawing/2014/main" id="{5B5D1B59-33D2-4D2E-A248-3B5A179B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Shape 6">
            <a:extLst xmlns:a="http://schemas.openxmlformats.org/drawingml/2006/main">
              <a:ext uri="{FF2B5EF4-FFF2-40B4-BE49-F238E27FC236}">
                <a16:creationId xmlns:a16="http://schemas.microsoft.com/office/drawing/2014/main" id="{329DC4A8-728E-43D0-9E7E-07F174B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" name="Shape 7">
            <a:extLst xmlns:a="http://schemas.openxmlformats.org/drawingml/2006/main">
              <a:ext uri="{FF2B5EF4-FFF2-40B4-BE49-F238E27FC236}">
                <a16:creationId xmlns:a16="http://schemas.microsoft.com/office/drawing/2014/main" id="{CCFFBFEA-028B-4C17-BB5A-A6ADFF9D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" name="Shape 8">
            <a:extLst xmlns:a="http://schemas.openxmlformats.org/drawingml/2006/main">
              <a:ext uri="{FF2B5EF4-FFF2-40B4-BE49-F238E27FC236}">
                <a16:creationId xmlns:a16="http://schemas.microsoft.com/office/drawing/2014/main" id="{858AEEEC-0405-4643-9AD9-80BAD42A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" name="Shape 9">
            <a:extLst xmlns:a="http://schemas.openxmlformats.org/drawingml/2006/main">
              <a:ext uri="{FF2B5EF4-FFF2-40B4-BE49-F238E27FC236}">
                <a16:creationId xmlns:a16="http://schemas.microsoft.com/office/drawing/2014/main" id="{04F08F6F-FB58-4D55-8FD1-5024F644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Shape 10">
            <a:extLst xmlns:a="http://schemas.openxmlformats.org/drawingml/2006/main">
              <a:ext uri="{FF2B5EF4-FFF2-40B4-BE49-F238E27FC236}">
                <a16:creationId xmlns:a16="http://schemas.microsoft.com/office/drawing/2014/main" id="{7C661DE3-7DDA-4566-836B-05B90FB3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" name="Shape 11">
            <a:extLst xmlns:a="http://schemas.openxmlformats.org/drawingml/2006/main">
              <a:ext uri="{FF2B5EF4-FFF2-40B4-BE49-F238E27FC236}">
                <a16:creationId xmlns:a16="http://schemas.microsoft.com/office/drawing/2014/main" id="{5E175C80-3525-4D63-B988-BA4DBB51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" name="Shape 12">
            <a:extLst xmlns:a="http://schemas.openxmlformats.org/drawingml/2006/main">
              <a:ext uri="{FF2B5EF4-FFF2-40B4-BE49-F238E27FC236}">
                <a16:creationId xmlns:a16="http://schemas.microsoft.com/office/drawing/2014/main" id="{3F3BC39F-AD5A-45B0-907B-94DDDCA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" name="Shape 13">
            <a:extLst xmlns:a="http://schemas.openxmlformats.org/drawingml/2006/main">
              <a:ext uri="{FF2B5EF4-FFF2-40B4-BE49-F238E27FC236}">
                <a16:creationId xmlns:a16="http://schemas.microsoft.com/office/drawing/2014/main" id="{45C179EA-C09F-418E-A4BB-DA47D65E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9EF58247-CCA0-4E60-92C3-FFBA617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" name="Shape 15">
            <a:extLst xmlns:a="http://schemas.openxmlformats.org/drawingml/2006/main">
              <a:ext uri="{FF2B5EF4-FFF2-40B4-BE49-F238E27FC236}">
                <a16:creationId xmlns:a16="http://schemas.microsoft.com/office/drawing/2014/main" id="{A905CF19-9EC9-480A-A897-9FE4C44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D1579FBF-B5C2-4882-8FAF-87E7FC4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4C21B87D-9F6E-48E7-824E-CB25192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Shape 18">
            <a:extLst xmlns:a="http://schemas.openxmlformats.org/drawingml/2006/main">
              <a:ext uri="{FF2B5EF4-FFF2-40B4-BE49-F238E27FC236}">
                <a16:creationId xmlns:a16="http://schemas.microsoft.com/office/drawing/2014/main" id="{0C16BF64-1CC6-4004-8460-17EB8AE0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Shape 19">
            <a:extLst xmlns:a="http://schemas.openxmlformats.org/drawingml/2006/main">
              <a:ext uri="{FF2B5EF4-FFF2-40B4-BE49-F238E27FC236}">
                <a16:creationId xmlns:a16="http://schemas.microsoft.com/office/drawing/2014/main" id="{90A084BA-4261-45E3-8EB5-F94F14E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Shape 20">
            <a:extLst xmlns:a="http://schemas.openxmlformats.org/drawingml/2006/main">
              <a:ext uri="{FF2B5EF4-FFF2-40B4-BE49-F238E27FC236}">
                <a16:creationId xmlns:a16="http://schemas.microsoft.com/office/drawing/2014/main" id="{29D0EFA1-F31B-4913-AA66-250763F6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" name="Shape 21">
            <a:extLst xmlns:a="http://schemas.openxmlformats.org/drawingml/2006/main">
              <a:ext uri="{FF2B5EF4-FFF2-40B4-BE49-F238E27FC236}">
                <a16:creationId xmlns:a16="http://schemas.microsoft.com/office/drawing/2014/main" id="{F0E4DEF7-EBF0-4F65-A45E-C4948D11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" name="Shape 22">
            <a:extLst xmlns:a="http://schemas.openxmlformats.org/drawingml/2006/main">
              <a:ext uri="{FF2B5EF4-FFF2-40B4-BE49-F238E27FC236}">
                <a16:creationId xmlns:a16="http://schemas.microsoft.com/office/drawing/2014/main" id="{5B3C9CAC-C74C-4633-86BB-8AC2D023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" name="Shape 23">
            <a:extLst xmlns:a="http://schemas.openxmlformats.org/drawingml/2006/main">
              <a:ext uri="{FF2B5EF4-FFF2-40B4-BE49-F238E27FC236}">
                <a16:creationId xmlns:a16="http://schemas.microsoft.com/office/drawing/2014/main" id="{EDF7D45C-A4C7-4251-B021-6DBB2CCA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152806F5-AA82-48F1-9840-19254E8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8EEF79D1-DD46-497A-B9A6-100BCEBC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C2FC792C-7D52-451E-AE12-586AC034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EF69DF23-52DA-4913-9377-F82E7D01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" name="Shape 28">
            <a:extLst xmlns:a="http://schemas.openxmlformats.org/drawingml/2006/main">
              <a:ext uri="{FF2B5EF4-FFF2-40B4-BE49-F238E27FC236}">
                <a16:creationId xmlns:a16="http://schemas.microsoft.com/office/drawing/2014/main" id="{354CE2F4-7E35-482A-9567-A7453366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760" y="1108800"/>
            <a:ext cx="4640040" cy="464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>
              <a:alpha val="10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" name="Shape 29">
            <a:extLst xmlns:a="http://schemas.openxmlformats.org/drawingml/2006/main">
              <a:ext uri="{FF2B5EF4-FFF2-40B4-BE49-F238E27FC236}">
                <a16:creationId xmlns:a16="http://schemas.microsoft.com/office/drawing/2014/main" id="{0EF7F037-1672-4D18-B923-34B785C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60" y="1540800"/>
            <a:ext cx="3775680" cy="377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>
              <a:alpha val="1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" name="Shape 30">
            <a:extLst xmlns:a="http://schemas.openxmlformats.org/drawingml/2006/main">
              <a:ext uri="{FF2B5EF4-FFF2-40B4-BE49-F238E27FC236}">
                <a16:creationId xmlns:a16="http://schemas.microsoft.com/office/drawing/2014/main" id="{A73D7A36-64FD-4C33-8779-7E171F3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28800"/>
            <a:ext cx="3199680" cy="31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3E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" name="Shape 31">
            <a:extLst xmlns:a="http://schemas.openxmlformats.org/drawingml/2006/main">
              <a:ext uri="{FF2B5EF4-FFF2-40B4-BE49-F238E27FC236}">
                <a16:creationId xmlns:a16="http://schemas.microsoft.com/office/drawing/2014/main" id="{45CF36FE-721E-4091-8C03-05FBB065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880" y="2804760"/>
            <a:ext cx="447480" cy="447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Shape 32">
            <a:extLst xmlns:a="http://schemas.openxmlformats.org/drawingml/2006/main">
              <a:ext uri="{FF2B5EF4-FFF2-40B4-BE49-F238E27FC236}">
                <a16:creationId xmlns:a16="http://schemas.microsoft.com/office/drawing/2014/main" id="{CA8AF201-2153-4AAE-BA88-210A0D26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60" y="3413160"/>
            <a:ext cx="351360" cy="351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" name="Shape 33">
            <a:extLst xmlns:a="http://schemas.openxmlformats.org/drawingml/2006/main">
              <a:ext uri="{FF2B5EF4-FFF2-40B4-BE49-F238E27FC236}">
                <a16:creationId xmlns:a16="http://schemas.microsoft.com/office/drawing/2014/main" id="{B8CFD4A3-554B-4CCF-8921-7DEF458F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760" y="3925080"/>
            <a:ext cx="287280" cy="28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077ACE80-8C44-4547-AEAA-019E2733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040" y="2604960"/>
            <a:ext cx="207360" cy="207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" name="Text 35">
            <a:extLst xmlns:a="http://schemas.openxmlformats.org/drawingml/2006/main">
              <a:ext uri="{FF2B5EF4-FFF2-40B4-BE49-F238E27FC236}">
                <a16:creationId xmlns:a16="http://schemas.microsoft.com/office/drawing/2014/main" id="{7BE2EFE0-8D0C-4D39-ABCB-4931964F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77716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SURFACE PROXY · SPATIAL ANALYSIS · OPEN WORKFLOW</a:t>
            </a:r>
          </a:p>
        </p:txBody>
      </p:sp>
      <p:sp>
        <p:nvSpPr>
          <p:cNvPr id="46" name="Text 36">
            <a:extLst xmlns:a="http://schemas.openxmlformats.org/drawingml/2006/main">
              <a:ext uri="{FF2B5EF4-FFF2-40B4-BE49-F238E27FC236}">
                <a16:creationId xmlns:a16="http://schemas.microsoft.com/office/drawing/2014/main" id="{29517FB0-B94F-459B-9065-B75565FE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863120" cy="191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Surface titanium and lunar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crustal magnetism</a:t>
            </a:r>
          </a:p>
        </p:txBody>
      </p:sp>
      <p:sp>
        <p:nvSpPr>
          <p:cNvPr id="47" name="Text 37">
            <a:extLst xmlns:a="http://schemas.openxmlformats.org/drawingml/2006/main">
              <a:ext uri="{FF2B5EF4-FFF2-40B4-BE49-F238E27FC236}">
                <a16:creationId xmlns:a16="http://schemas.microsoft.com/office/drawing/2014/main" id="{A6CB5316-E691-4B7E-97F6-F8FFF8C4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7680240" cy="100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8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Global-map analysis over the declared joint-valid footprint (LROC ±70° and Imbrian-age restriction). </a:t>
            </a:r>
            <a:r>
              <a:rPr sz="1800" b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It does not directly test</a:t>
            </a:r>
            <a:r>
              <a:rPr sz="18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 the dated temporal mechanism of Nichols et al. (2026).</a:t>
            </a:r>
          </a:p>
        </p:txBody>
      </p:sp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B587B430-E53C-42CC-BE6D-87D449C9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0576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lemoon01110</a:t>
            </a:r>
            <a:r>
              <a:rPr sz="14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   ·   github.com/lemoon01110/Lunar-Titanium-Magnetism</a:t>
            </a:r>
          </a:p>
        </p:txBody>
      </p:sp>
    </p:spTree>
    <p:extLst>
      <p:ext uri="{BB962C8B-B14F-4D97-AF65-F5344CB8AC3E}">
        <p14:creationId xmlns:p14="http://schemas.microsoft.com/office/powerpoint/2010/main" val="2139241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hape 0">
            <a:extLst xmlns:a="http://schemas.openxmlformats.org/drawingml/2006/main">
              <a:ext uri="{FF2B5EF4-FFF2-40B4-BE49-F238E27FC236}">
                <a16:creationId xmlns:a16="http://schemas.microsoft.com/office/drawing/2014/main" id="{D19B5A80-50D0-4A3D-98A4-8911324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Shape 1">
            <a:extLst xmlns:a="http://schemas.openxmlformats.org/drawingml/2006/main">
              <a:ext uri="{FF2B5EF4-FFF2-40B4-BE49-F238E27FC236}">
                <a16:creationId xmlns:a16="http://schemas.microsoft.com/office/drawing/2014/main" id="{89C0A03D-309A-4957-BE49-0FEC66E7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" name="Shape 2">
            <a:extLst xmlns:a="http://schemas.openxmlformats.org/drawingml/2006/main">
              <a:ext uri="{FF2B5EF4-FFF2-40B4-BE49-F238E27FC236}">
                <a16:creationId xmlns:a16="http://schemas.microsoft.com/office/drawing/2014/main" id="{D521BFFE-6107-411F-B0DC-95BD070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" name="Shape 3">
            <a:extLst xmlns:a="http://schemas.openxmlformats.org/drawingml/2006/main">
              <a:ext uri="{FF2B5EF4-FFF2-40B4-BE49-F238E27FC236}">
                <a16:creationId xmlns:a16="http://schemas.microsoft.com/office/drawing/2014/main" id="{1E2CE51E-3A55-44FB-9951-180B2CDA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" name="Shape 4">
            <a:extLst xmlns:a="http://schemas.openxmlformats.org/drawingml/2006/main">
              <a:ext uri="{FF2B5EF4-FFF2-40B4-BE49-F238E27FC236}">
                <a16:creationId xmlns:a16="http://schemas.microsoft.com/office/drawing/2014/main" id="{1BE8BE04-989E-4E4C-9221-3846EADF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" name="Shape 5">
            <a:extLst xmlns:a="http://schemas.openxmlformats.org/drawingml/2006/main">
              <a:ext uri="{FF2B5EF4-FFF2-40B4-BE49-F238E27FC236}">
                <a16:creationId xmlns:a16="http://schemas.microsoft.com/office/drawing/2014/main" id="{35A3EC33-B34B-449B-86AB-9101C291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" name="Shape 6">
            <a:extLst xmlns:a="http://schemas.openxmlformats.org/drawingml/2006/main">
              <a:ext uri="{FF2B5EF4-FFF2-40B4-BE49-F238E27FC236}">
                <a16:creationId xmlns:a16="http://schemas.microsoft.com/office/drawing/2014/main" id="{3FB8E7AC-9107-41C3-9509-83825D5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" name="Shape 7">
            <a:extLst xmlns:a="http://schemas.openxmlformats.org/drawingml/2006/main">
              <a:ext uri="{FF2B5EF4-FFF2-40B4-BE49-F238E27FC236}">
                <a16:creationId xmlns:a16="http://schemas.microsoft.com/office/drawing/2014/main" id="{ACA705A2-ECD7-47C8-B7B5-A19DFF8A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" name="Shape 8">
            <a:extLst xmlns:a="http://schemas.openxmlformats.org/drawingml/2006/main">
              <a:ext uri="{FF2B5EF4-FFF2-40B4-BE49-F238E27FC236}">
                <a16:creationId xmlns:a16="http://schemas.microsoft.com/office/drawing/2014/main" id="{03900D25-8E6F-4B1B-B28B-F570F94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8" name="Shape 9">
            <a:extLst xmlns:a="http://schemas.openxmlformats.org/drawingml/2006/main">
              <a:ext uri="{FF2B5EF4-FFF2-40B4-BE49-F238E27FC236}">
                <a16:creationId xmlns:a16="http://schemas.microsoft.com/office/drawing/2014/main" id="{0EBE74C8-9241-4ADD-B880-B88CDB7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9" name="Shape 10">
            <a:extLst xmlns:a="http://schemas.openxmlformats.org/drawingml/2006/main">
              <a:ext uri="{FF2B5EF4-FFF2-40B4-BE49-F238E27FC236}">
                <a16:creationId xmlns:a16="http://schemas.microsoft.com/office/drawing/2014/main" id="{A7EE3716-924E-483D-B4E6-7BF0476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0" name="Shape 11">
            <a:extLst xmlns:a="http://schemas.openxmlformats.org/drawingml/2006/main">
              <a:ext uri="{FF2B5EF4-FFF2-40B4-BE49-F238E27FC236}">
                <a16:creationId xmlns:a16="http://schemas.microsoft.com/office/drawing/2014/main" id="{C0521A0E-AF8A-4C5B-8583-F3E83CA5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1" name="Shape 12">
            <a:extLst xmlns:a="http://schemas.openxmlformats.org/drawingml/2006/main">
              <a:ext uri="{FF2B5EF4-FFF2-40B4-BE49-F238E27FC236}">
                <a16:creationId xmlns:a16="http://schemas.microsoft.com/office/drawing/2014/main" id="{65371D37-D8BF-443E-84B1-34F2D4B6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2" name="Shape 13">
            <a:extLst xmlns:a="http://schemas.openxmlformats.org/drawingml/2006/main">
              <a:ext uri="{FF2B5EF4-FFF2-40B4-BE49-F238E27FC236}">
                <a16:creationId xmlns:a16="http://schemas.microsoft.com/office/drawing/2014/main" id="{543F11B4-2B3F-4738-814E-6A73F78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" name="Shape 14">
            <a:extLst xmlns:a="http://schemas.openxmlformats.org/drawingml/2006/main">
              <a:ext uri="{FF2B5EF4-FFF2-40B4-BE49-F238E27FC236}">
                <a16:creationId xmlns:a16="http://schemas.microsoft.com/office/drawing/2014/main" id="{A2E6EFEA-1F36-4F36-B78A-4A2006AB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4" name="Shape 15">
            <a:extLst xmlns:a="http://schemas.openxmlformats.org/drawingml/2006/main">
              <a:ext uri="{FF2B5EF4-FFF2-40B4-BE49-F238E27FC236}">
                <a16:creationId xmlns:a16="http://schemas.microsoft.com/office/drawing/2014/main" id="{C823BE69-936E-4105-8B50-F71DC5FF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5" name="Shape 16">
            <a:extLst xmlns:a="http://schemas.openxmlformats.org/drawingml/2006/main">
              <a:ext uri="{FF2B5EF4-FFF2-40B4-BE49-F238E27FC236}">
                <a16:creationId xmlns:a16="http://schemas.microsoft.com/office/drawing/2014/main" id="{FD8C5CA4-EEE7-4061-8972-44CEAFAE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6" name="Shape 17">
            <a:extLst xmlns:a="http://schemas.openxmlformats.org/drawingml/2006/main">
              <a:ext uri="{FF2B5EF4-FFF2-40B4-BE49-F238E27FC236}">
                <a16:creationId xmlns:a16="http://schemas.microsoft.com/office/drawing/2014/main" id="{C86EC829-722D-4E00-B16F-4E386B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7" name="Shape 18">
            <a:extLst xmlns:a="http://schemas.openxmlformats.org/drawingml/2006/main">
              <a:ext uri="{FF2B5EF4-FFF2-40B4-BE49-F238E27FC236}">
                <a16:creationId xmlns:a16="http://schemas.microsoft.com/office/drawing/2014/main" id="{5BFB59E4-1665-41A5-AA87-51C80AB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8" name="Shape 19">
            <a:extLst xmlns:a="http://schemas.openxmlformats.org/drawingml/2006/main">
              <a:ext uri="{FF2B5EF4-FFF2-40B4-BE49-F238E27FC236}">
                <a16:creationId xmlns:a16="http://schemas.microsoft.com/office/drawing/2014/main" id="{E67055F0-06F5-4009-8466-1CC516D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9" name="Shape 20">
            <a:extLst xmlns:a="http://schemas.openxmlformats.org/drawingml/2006/main">
              <a:ext uri="{FF2B5EF4-FFF2-40B4-BE49-F238E27FC236}">
                <a16:creationId xmlns:a16="http://schemas.microsoft.com/office/drawing/2014/main" id="{19E53069-FA50-4CD2-98CB-6F90188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0" name="Shape 21">
            <a:extLst xmlns:a="http://schemas.openxmlformats.org/drawingml/2006/main">
              <a:ext uri="{FF2B5EF4-FFF2-40B4-BE49-F238E27FC236}">
                <a16:creationId xmlns:a16="http://schemas.microsoft.com/office/drawing/2014/main" id="{5022B8E3-5369-4537-A142-1A0FE365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1" name="Shape 22">
            <a:extLst xmlns:a="http://schemas.openxmlformats.org/drawingml/2006/main">
              <a:ext uri="{FF2B5EF4-FFF2-40B4-BE49-F238E27FC236}">
                <a16:creationId xmlns:a16="http://schemas.microsoft.com/office/drawing/2014/main" id="{DDA529AB-6552-4BA2-B569-55C5E90B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2" name="Shape 23">
            <a:extLst xmlns:a="http://schemas.openxmlformats.org/drawingml/2006/main">
              <a:ext uri="{FF2B5EF4-FFF2-40B4-BE49-F238E27FC236}">
                <a16:creationId xmlns:a16="http://schemas.microsoft.com/office/drawing/2014/main" id="{CE14F9EA-74F9-4261-BBC1-709E514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3" name="Shape 24">
            <a:extLst xmlns:a="http://schemas.openxmlformats.org/drawingml/2006/main">
              <a:ext uri="{FF2B5EF4-FFF2-40B4-BE49-F238E27FC236}">
                <a16:creationId xmlns:a16="http://schemas.microsoft.com/office/drawing/2014/main" id="{44630D07-D7CE-43D8-8A51-40AFABE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4" name="Shape 25">
            <a:extLst xmlns:a="http://schemas.openxmlformats.org/drawingml/2006/main">
              <a:ext uri="{FF2B5EF4-FFF2-40B4-BE49-F238E27FC236}">
                <a16:creationId xmlns:a16="http://schemas.microsoft.com/office/drawing/2014/main" id="{FD6FFBC9-99A8-47D5-9D64-73CD94F1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5" name="Shape 26">
            <a:extLst xmlns:a="http://schemas.openxmlformats.org/drawingml/2006/main">
              <a:ext uri="{FF2B5EF4-FFF2-40B4-BE49-F238E27FC236}">
                <a16:creationId xmlns:a16="http://schemas.microsoft.com/office/drawing/2014/main" id="{C03BECDD-708F-4658-B812-13FF415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6" name="Shape 27">
            <a:extLst xmlns:a="http://schemas.openxmlformats.org/drawingml/2006/main">
              <a:ext uri="{FF2B5EF4-FFF2-40B4-BE49-F238E27FC236}">
                <a16:creationId xmlns:a16="http://schemas.microsoft.com/office/drawing/2014/main" id="{4F53BD68-1D5E-4DA4-B35F-C8DD76C9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7" name="Text 28">
            <a:extLst xmlns:a="http://schemas.openxmlformats.org/drawingml/2006/main">
              <a:ext uri="{FF2B5EF4-FFF2-40B4-BE49-F238E27FC236}">
                <a16:creationId xmlns:a16="http://schemas.microsoft.com/office/drawing/2014/main" id="{A51F486B-A511-4495-B583-92B4A9C9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 spc="30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THE PUZZLE</a:t>
            </a:r>
          </a:p>
        </p:txBody>
      </p:sp>
      <p:sp>
        <p:nvSpPr>
          <p:cNvPr id="78" name="Text 29">
            <a:extLst xmlns:a="http://schemas.openxmlformats.org/drawingml/2006/main">
              <a:ext uri="{FF2B5EF4-FFF2-40B4-BE49-F238E27FC236}">
                <a16:creationId xmlns:a16="http://schemas.microsoft.com/office/drawing/2014/main" id="{ACCDE035-502A-450D-97D9-543A62D6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8411760" cy="82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3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A magnetized crust with no magnet behind it</a:t>
            </a:r>
          </a:p>
        </p:txBody>
      </p:sp>
      <p:sp>
        <p:nvSpPr>
          <p:cNvPr id="79" name="Shape 30">
            <a:extLst xmlns:a="http://schemas.openxmlformats.org/drawingml/2006/main">
              <a:ext uri="{FF2B5EF4-FFF2-40B4-BE49-F238E27FC236}">
                <a16:creationId xmlns:a16="http://schemas.microsoft.com/office/drawing/2014/main" id="{E3ABD402-5865-40FE-ADE5-F2847594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38" y="1568958"/>
            <a:ext cx="4725162" cy="472516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0" name="Shape 31">
            <a:extLst xmlns:a="http://schemas.openxmlformats.org/drawingml/2006/main">
              <a:ext uri="{FF2B5EF4-FFF2-40B4-BE49-F238E27FC236}">
                <a16:creationId xmlns:a16="http://schemas.microsoft.com/office/drawing/2014/main" id="{BA94769C-8A12-4A3E-98BB-B4A1996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960" y="1774080"/>
            <a:ext cx="4315320" cy="4315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>
              <a:alpha val="1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1" name="Shape 32">
            <a:extLst xmlns:a="http://schemas.openxmlformats.org/drawingml/2006/main">
              <a:ext uri="{FF2B5EF4-FFF2-40B4-BE49-F238E27FC236}">
                <a16:creationId xmlns:a16="http://schemas.microsoft.com/office/drawing/2014/main" id="{503026D3-60E4-4F8A-8576-A26667F5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03120"/>
            <a:ext cx="3656880" cy="3656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3E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2" name="Shape 33">
            <a:extLst xmlns:a="http://schemas.openxmlformats.org/drawingml/2006/main">
              <a:ext uri="{FF2B5EF4-FFF2-40B4-BE49-F238E27FC236}">
                <a16:creationId xmlns:a16="http://schemas.microsoft.com/office/drawing/2014/main" id="{7D3AAEB3-EA03-4B39-A8CF-F58D37CE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760" y="3218760"/>
            <a:ext cx="511200" cy="51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3" name="Shape 34">
            <a:extLst xmlns:a="http://schemas.openxmlformats.org/drawingml/2006/main">
              <a:ext uri="{FF2B5EF4-FFF2-40B4-BE49-F238E27FC236}">
                <a16:creationId xmlns:a16="http://schemas.microsoft.com/office/drawing/2014/main" id="{8B8F65E1-13A3-48AF-89A2-D4B70B74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00" y="3913560"/>
            <a:ext cx="401760" cy="401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4" name="Shape 35">
            <a:extLst xmlns:a="http://schemas.openxmlformats.org/drawingml/2006/main">
              <a:ext uri="{FF2B5EF4-FFF2-40B4-BE49-F238E27FC236}">
                <a16:creationId xmlns:a16="http://schemas.microsoft.com/office/drawing/2014/main" id="{F83FDA89-D3D1-4641-972C-42FDDE1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498920"/>
            <a:ext cx="328320" cy="328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" name="Shape 36">
            <a:extLst xmlns:a="http://schemas.openxmlformats.org/drawingml/2006/main">
              <a:ext uri="{FF2B5EF4-FFF2-40B4-BE49-F238E27FC236}">
                <a16:creationId xmlns:a16="http://schemas.microsoft.com/office/drawing/2014/main" id="{228C6AB0-A802-42FA-9018-AF73942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20" y="2990160"/>
            <a:ext cx="236880" cy="236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6" name="Shape 37">
            <a:extLst xmlns:a="http://schemas.openxmlformats.org/drawingml/2006/main">
              <a:ext uri="{FF2B5EF4-FFF2-40B4-BE49-F238E27FC236}">
                <a16:creationId xmlns:a16="http://schemas.microsoft.com/office/drawing/2014/main" id="{9BA60576-57CB-47C0-A308-0FC5DBF6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200400"/>
            <a:ext cx="200520" cy="200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7" name="Shape 38">
            <a:extLst xmlns:a="http://schemas.openxmlformats.org/drawingml/2006/main">
              <a:ext uri="{FF2B5EF4-FFF2-40B4-BE49-F238E27FC236}">
                <a16:creationId xmlns:a16="http://schemas.microsoft.com/office/drawing/2014/main" id="{C9331664-3229-4E84-839E-22F5955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3474720"/>
            <a:ext cx="200520" cy="200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8" name="Shape 39">
            <a:extLst xmlns:a="http://schemas.openxmlformats.org/drawingml/2006/main">
              <a:ext uri="{FF2B5EF4-FFF2-40B4-BE49-F238E27FC236}">
                <a16:creationId xmlns:a16="http://schemas.microsoft.com/office/drawing/2014/main" id="{6F92C472-9D1D-4265-8C23-34D9EB1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480560"/>
            <a:ext cx="200520" cy="200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9" name="Shape 40">
            <a:extLst xmlns:a="http://schemas.openxmlformats.org/drawingml/2006/main">
              <a:ext uri="{FF2B5EF4-FFF2-40B4-BE49-F238E27FC236}">
                <a16:creationId xmlns:a16="http://schemas.microsoft.com/office/drawing/2014/main" id="{61ECE213-F523-48E3-B930-2BD2CA4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572000"/>
            <a:ext cx="200520" cy="200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0" name="Shape 41">
            <a:extLst xmlns:a="http://schemas.openxmlformats.org/drawingml/2006/main">
              <a:ext uri="{FF2B5EF4-FFF2-40B4-BE49-F238E27FC236}">
                <a16:creationId xmlns:a16="http://schemas.microsoft.com/office/drawing/2014/main" id="{E5D610AF-7EBB-4A7C-87D9-C7A84B1B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068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1" name="Text 42">
            <a:extLst xmlns:a="http://schemas.openxmlformats.org/drawingml/2006/main">
              <a:ext uri="{FF2B5EF4-FFF2-40B4-BE49-F238E27FC236}">
                <a16:creationId xmlns:a16="http://schemas.microsoft.com/office/drawing/2014/main" id="{24E1D48B-98A0-4104-9418-C8AC7A9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75888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No global field today</a:t>
            </a:r>
          </a:p>
        </p:txBody>
      </p:sp>
      <p:sp>
        <p:nvSpPr>
          <p:cNvPr id="92" name="Text 43">
            <a:extLst xmlns:a="http://schemas.openxmlformats.org/drawingml/2006/main">
              <a:ext uri="{FF2B5EF4-FFF2-40B4-BE49-F238E27FC236}">
                <a16:creationId xmlns:a16="http://schemas.microsoft.com/office/drawing/2014/main" id="{4BE32535-7FDA-42E8-BFC1-241159A1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50080"/>
            <a:ext cx="6720840" cy="6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Unlike Earth, the Moon has no active core dynamo — so it should be magnetically dead.</a:t>
            </a:r>
          </a:p>
        </p:txBody>
      </p:sp>
      <p:sp>
        <p:nvSpPr>
          <p:cNvPr id="93" name="Shape 44">
            <a:extLst xmlns:a="http://schemas.openxmlformats.org/drawingml/2006/main">
              <a:ext uri="{FF2B5EF4-FFF2-40B4-BE49-F238E27FC236}">
                <a16:creationId xmlns:a16="http://schemas.microsoft.com/office/drawing/2014/main" id="{01DC0E34-69A3-41E9-ADC0-D040D818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920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4" name="Text 45">
            <a:extLst xmlns:a="http://schemas.openxmlformats.org/drawingml/2006/main">
              <a:ext uri="{FF2B5EF4-FFF2-40B4-BE49-F238E27FC236}">
                <a16:creationId xmlns:a16="http://schemas.microsoft.com/office/drawing/2014/main" id="{8D8FFF41-EB79-4831-ACCC-30803A93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64480"/>
            <a:ext cx="75888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Yet the crust is magnetized</a:t>
            </a:r>
          </a:p>
        </p:txBody>
      </p:sp>
      <p:sp>
        <p:nvSpPr>
          <p:cNvPr id="95" name="Text 46">
            <a:extLst xmlns:a="http://schemas.openxmlformats.org/drawingml/2006/main">
              <a:ext uri="{FF2B5EF4-FFF2-40B4-BE49-F238E27FC236}">
                <a16:creationId xmlns:a16="http://schemas.microsoft.com/office/drawing/2014/main" id="{BCECEFBD-A9DA-4C2F-BD05-B65FB10B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48600"/>
            <a:ext cx="5806440" cy="6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Orbiting spacecraft measure strong, patchy magnetic anomalies locked into ancient rock.</a:t>
            </a:r>
          </a:p>
        </p:txBody>
      </p:sp>
      <p:sp>
        <p:nvSpPr>
          <p:cNvPr id="96" name="Shape 47">
            <a:extLst xmlns:a="http://schemas.openxmlformats.org/drawingml/2006/main">
              <a:ext uri="{FF2B5EF4-FFF2-40B4-BE49-F238E27FC236}">
                <a16:creationId xmlns:a16="http://schemas.microsoft.com/office/drawing/2014/main" id="{E9D9ECFB-250B-4F01-8D60-989A3D1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7" name="Text 48">
            <a:extLst xmlns:a="http://schemas.openxmlformats.org/drawingml/2006/main">
              <a:ext uri="{FF2B5EF4-FFF2-40B4-BE49-F238E27FC236}">
                <a16:creationId xmlns:a16="http://schemas.microsoft.com/office/drawing/2014/main" id="{F88BA360-0310-4E9A-A4E4-2C20DD02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63000"/>
            <a:ext cx="75888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Timing is the missing variable</a:t>
            </a:r>
          </a:p>
        </p:txBody>
      </p:sp>
      <p:sp>
        <p:nvSpPr>
          <p:cNvPr id="98" name="Text 49">
            <a:extLst xmlns:a="http://schemas.openxmlformats.org/drawingml/2006/main">
              <a:ext uri="{FF2B5EF4-FFF2-40B4-BE49-F238E27FC236}">
                <a16:creationId xmlns:a16="http://schemas.microsoft.com/office/drawing/2014/main" id="{817458CF-BA70-415F-81D8-08873EBD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46760"/>
            <a:ext cx="6035040" cy="6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Dated samples constrain ancient field evolution. Present-day surface maps test spatial co-location, not the temporal dynamo mechanism.</a:t>
            </a:r>
          </a:p>
        </p:txBody>
      </p:sp>
    </p:spTree>
    <p:extLst>
      <p:ext uri="{BB962C8B-B14F-4D97-AF65-F5344CB8AC3E}">
        <p14:creationId xmlns:p14="http://schemas.microsoft.com/office/powerpoint/2010/main" val="1434722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Shape 0">
            <a:extLst xmlns:a="http://schemas.openxmlformats.org/drawingml/2006/main">
              <a:ext uri="{FF2B5EF4-FFF2-40B4-BE49-F238E27FC236}">
                <a16:creationId xmlns:a16="http://schemas.microsoft.com/office/drawing/2014/main" id="{86ACB075-2F7E-4BD3-B945-12415043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" name="Shape 1">
            <a:extLst xmlns:a="http://schemas.openxmlformats.org/drawingml/2006/main">
              <a:ext uri="{FF2B5EF4-FFF2-40B4-BE49-F238E27FC236}">
                <a16:creationId xmlns:a16="http://schemas.microsoft.com/office/drawing/2014/main" id="{E80203B7-7FF2-4644-B30A-E5D8230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1" name="Shape 2">
            <a:extLst xmlns:a="http://schemas.openxmlformats.org/drawingml/2006/main">
              <a:ext uri="{FF2B5EF4-FFF2-40B4-BE49-F238E27FC236}">
                <a16:creationId xmlns:a16="http://schemas.microsoft.com/office/drawing/2014/main" id="{D4A328E1-62F4-4082-BB46-AEEBDCE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2" name="Shape 3">
            <a:extLst xmlns:a="http://schemas.openxmlformats.org/drawingml/2006/main">
              <a:ext uri="{FF2B5EF4-FFF2-40B4-BE49-F238E27FC236}">
                <a16:creationId xmlns:a16="http://schemas.microsoft.com/office/drawing/2014/main" id="{B9FF4077-8FCA-4CAD-B10D-C9238F60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3" name="Shape 4">
            <a:extLst xmlns:a="http://schemas.openxmlformats.org/drawingml/2006/main">
              <a:ext uri="{FF2B5EF4-FFF2-40B4-BE49-F238E27FC236}">
                <a16:creationId xmlns:a16="http://schemas.microsoft.com/office/drawing/2014/main" id="{E3987712-7212-498C-90D0-9DCE7BE5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4" name="Shape 5">
            <a:extLst xmlns:a="http://schemas.openxmlformats.org/drawingml/2006/main">
              <a:ext uri="{FF2B5EF4-FFF2-40B4-BE49-F238E27FC236}">
                <a16:creationId xmlns:a16="http://schemas.microsoft.com/office/drawing/2014/main" id="{19B00E40-50D7-439A-9C58-F73E63F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5" name="Shape 6">
            <a:extLst xmlns:a="http://schemas.openxmlformats.org/drawingml/2006/main">
              <a:ext uri="{FF2B5EF4-FFF2-40B4-BE49-F238E27FC236}">
                <a16:creationId xmlns:a16="http://schemas.microsoft.com/office/drawing/2014/main" id="{3F15B1E1-F64E-4035-A8D3-03A197B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6" name="Shape 7">
            <a:extLst xmlns:a="http://schemas.openxmlformats.org/drawingml/2006/main">
              <a:ext uri="{FF2B5EF4-FFF2-40B4-BE49-F238E27FC236}">
                <a16:creationId xmlns:a16="http://schemas.microsoft.com/office/drawing/2014/main" id="{193D3E73-44FB-45ED-9F45-B0D19D88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7" name="Shape 8">
            <a:extLst xmlns:a="http://schemas.openxmlformats.org/drawingml/2006/main">
              <a:ext uri="{FF2B5EF4-FFF2-40B4-BE49-F238E27FC236}">
                <a16:creationId xmlns:a16="http://schemas.microsoft.com/office/drawing/2014/main" id="{F1927370-7AAD-47A5-B292-2ABDF9D0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8" name="Shape 9">
            <a:extLst xmlns:a="http://schemas.openxmlformats.org/drawingml/2006/main">
              <a:ext uri="{FF2B5EF4-FFF2-40B4-BE49-F238E27FC236}">
                <a16:creationId xmlns:a16="http://schemas.microsoft.com/office/drawing/2014/main" id="{AF8EA280-95ED-42E8-8F36-2ADAD455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9" name="Shape 10">
            <a:extLst xmlns:a="http://schemas.openxmlformats.org/drawingml/2006/main">
              <a:ext uri="{FF2B5EF4-FFF2-40B4-BE49-F238E27FC236}">
                <a16:creationId xmlns:a16="http://schemas.microsoft.com/office/drawing/2014/main" id="{5B0AAA0D-FF26-4E63-8239-EC3C9CAD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0" name="Shape 11">
            <a:extLst xmlns:a="http://schemas.openxmlformats.org/drawingml/2006/main">
              <a:ext uri="{FF2B5EF4-FFF2-40B4-BE49-F238E27FC236}">
                <a16:creationId xmlns:a16="http://schemas.microsoft.com/office/drawing/2014/main" id="{D237912B-F865-4BC1-9062-364E30FE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1" name="Shape 12">
            <a:extLst xmlns:a="http://schemas.openxmlformats.org/drawingml/2006/main">
              <a:ext uri="{FF2B5EF4-FFF2-40B4-BE49-F238E27FC236}">
                <a16:creationId xmlns:a16="http://schemas.microsoft.com/office/drawing/2014/main" id="{A26D8003-12FC-4B98-9F41-064C4EE1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2" name="Shape 13">
            <a:extLst xmlns:a="http://schemas.openxmlformats.org/drawingml/2006/main">
              <a:ext uri="{FF2B5EF4-FFF2-40B4-BE49-F238E27FC236}">
                <a16:creationId xmlns:a16="http://schemas.microsoft.com/office/drawing/2014/main" id="{EAF13A24-F38C-47FA-949D-E4303603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3" name="Shape 14">
            <a:extLst xmlns:a="http://schemas.openxmlformats.org/drawingml/2006/main">
              <a:ext uri="{FF2B5EF4-FFF2-40B4-BE49-F238E27FC236}">
                <a16:creationId xmlns:a16="http://schemas.microsoft.com/office/drawing/2014/main" id="{A8482E0A-DC34-4332-992E-A09C77D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4" name="Shape 15">
            <a:extLst xmlns:a="http://schemas.openxmlformats.org/drawingml/2006/main">
              <a:ext uri="{FF2B5EF4-FFF2-40B4-BE49-F238E27FC236}">
                <a16:creationId xmlns:a16="http://schemas.microsoft.com/office/drawing/2014/main" id="{655A882F-D88D-4FDA-94FF-78063816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5" name="Shape 16">
            <a:extLst xmlns:a="http://schemas.openxmlformats.org/drawingml/2006/main">
              <a:ext uri="{FF2B5EF4-FFF2-40B4-BE49-F238E27FC236}">
                <a16:creationId xmlns:a16="http://schemas.microsoft.com/office/drawing/2014/main" id="{B8D03E07-149C-462C-8B50-BFEDE292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6" name="Shape 17">
            <a:extLst xmlns:a="http://schemas.openxmlformats.org/drawingml/2006/main">
              <a:ext uri="{FF2B5EF4-FFF2-40B4-BE49-F238E27FC236}">
                <a16:creationId xmlns:a16="http://schemas.microsoft.com/office/drawing/2014/main" id="{E1342F56-1670-434C-A200-434DA166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7" name="Shape 18">
            <a:extLst xmlns:a="http://schemas.openxmlformats.org/drawingml/2006/main">
              <a:ext uri="{FF2B5EF4-FFF2-40B4-BE49-F238E27FC236}">
                <a16:creationId xmlns:a16="http://schemas.microsoft.com/office/drawing/2014/main" id="{6922AB13-FF81-4958-8152-F8FBDAA4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8" name="Shape 19">
            <a:extLst xmlns:a="http://schemas.openxmlformats.org/drawingml/2006/main">
              <a:ext uri="{FF2B5EF4-FFF2-40B4-BE49-F238E27FC236}">
                <a16:creationId xmlns:a16="http://schemas.microsoft.com/office/drawing/2014/main" id="{E94F6697-9BDF-48E0-80C2-88E763FD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9" name="Shape 20">
            <a:extLst xmlns:a="http://schemas.openxmlformats.org/drawingml/2006/main">
              <a:ext uri="{FF2B5EF4-FFF2-40B4-BE49-F238E27FC236}">
                <a16:creationId xmlns:a16="http://schemas.microsoft.com/office/drawing/2014/main" id="{2557FF39-14D6-4E0B-B8CD-A41398D7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0" name="Shape 21">
            <a:extLst xmlns:a="http://schemas.openxmlformats.org/drawingml/2006/main">
              <a:ext uri="{FF2B5EF4-FFF2-40B4-BE49-F238E27FC236}">
                <a16:creationId xmlns:a16="http://schemas.microsoft.com/office/drawing/2014/main" id="{EE085980-63E9-47AB-BFAD-10F273B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1" name="Shape 22">
            <a:extLst xmlns:a="http://schemas.openxmlformats.org/drawingml/2006/main">
              <a:ext uri="{FF2B5EF4-FFF2-40B4-BE49-F238E27FC236}">
                <a16:creationId xmlns:a16="http://schemas.microsoft.com/office/drawing/2014/main" id="{4F1DBCD9-AB97-4D7C-A1E9-9579CA1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2" name="Shape 23">
            <a:extLst xmlns:a="http://schemas.openxmlformats.org/drawingml/2006/main">
              <a:ext uri="{FF2B5EF4-FFF2-40B4-BE49-F238E27FC236}">
                <a16:creationId xmlns:a16="http://schemas.microsoft.com/office/drawing/2014/main" id="{18A956F4-0AEE-4304-B484-5AEE1939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3" name="Shape 24">
            <a:extLst xmlns:a="http://schemas.openxmlformats.org/drawingml/2006/main">
              <a:ext uri="{FF2B5EF4-FFF2-40B4-BE49-F238E27FC236}">
                <a16:creationId xmlns:a16="http://schemas.microsoft.com/office/drawing/2014/main" id="{14AB7C5A-3DE7-44E8-8628-7F17161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4" name="Shape 25">
            <a:extLst xmlns:a="http://schemas.openxmlformats.org/drawingml/2006/main">
              <a:ext uri="{FF2B5EF4-FFF2-40B4-BE49-F238E27FC236}">
                <a16:creationId xmlns:a16="http://schemas.microsoft.com/office/drawing/2014/main" id="{AF9C9BE0-30D2-44F5-866A-DF7776B5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5" name="Shape 26">
            <a:extLst xmlns:a="http://schemas.openxmlformats.org/drawingml/2006/main">
              <a:ext uri="{FF2B5EF4-FFF2-40B4-BE49-F238E27FC236}">
                <a16:creationId xmlns:a16="http://schemas.microsoft.com/office/drawing/2014/main" id="{D146414F-7BF7-4549-8F7C-6FB9BA71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6" name="Shape 27">
            <a:extLst xmlns:a="http://schemas.openxmlformats.org/drawingml/2006/main">
              <a:ext uri="{FF2B5EF4-FFF2-40B4-BE49-F238E27FC236}">
                <a16:creationId xmlns:a16="http://schemas.microsoft.com/office/drawing/2014/main" id="{CC334026-D8D6-459B-B7EB-DF709E5F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7" name="Text 28">
            <a:extLst xmlns:a="http://schemas.openxmlformats.org/drawingml/2006/main">
              <a:ext uri="{FF2B5EF4-FFF2-40B4-BE49-F238E27FC236}">
                <a16:creationId xmlns:a16="http://schemas.microsoft.com/office/drawing/2014/main" id="{00CFDF52-E792-4AC1-B13E-F846FF0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THE SCOPE</a:t>
            </a:r>
          </a:p>
        </p:txBody>
      </p:sp>
      <p:sp>
        <p:nvSpPr>
          <p:cNvPr id="128" name="Text 29">
            <a:extLst xmlns:a="http://schemas.openxmlformats.org/drawingml/2006/main">
              <a:ext uri="{FF2B5EF4-FFF2-40B4-BE49-F238E27FC236}">
                <a16:creationId xmlns:a16="http://schemas.microsoft.com/office/drawing/2014/main" id="{1683B97B-4CEC-4255-9AC5-E433A82D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One temporal mechanism motivates one spatial proxy test</a:t>
            </a:r>
          </a:p>
        </p:txBody>
      </p:sp>
      <p:sp>
        <p:nvSpPr>
          <p:cNvPr id="129" name="Shape 30">
            <a:extLst xmlns:a="http://schemas.openxmlformats.org/drawingml/2006/main">
              <a:ext uri="{FF2B5EF4-FFF2-40B4-BE49-F238E27FC236}">
                <a16:creationId xmlns:a16="http://schemas.microsoft.com/office/drawing/2014/main" id="{04675071-6956-430D-AFE5-CFAFE68E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257080" cy="411408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F2A93B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0" name="Shape 31">
            <a:extLst xmlns:a="http://schemas.openxmlformats.org/drawingml/2006/main">
              <a:ext uri="{FF2B5EF4-FFF2-40B4-BE49-F238E27FC236}">
                <a16:creationId xmlns:a16="http://schemas.microsoft.com/office/drawing/2014/main" id="{42E204F8-95F9-4482-9DA6-3A7FCCE5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12920"/>
            <a:ext cx="236880" cy="236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1" name="Text 32">
            <a:extLst xmlns:a="http://schemas.openxmlformats.org/drawingml/2006/main">
              <a:ext uri="{FF2B5EF4-FFF2-40B4-BE49-F238E27FC236}">
                <a16:creationId xmlns:a16="http://schemas.microsoft.com/office/drawing/2014/main" id="{829D7B49-E8A3-4FA7-9624-58CC0BA9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21480"/>
            <a:ext cx="443412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Motivation · dated samples</a:t>
            </a:r>
          </a:p>
        </p:txBody>
      </p:sp>
      <p:sp>
        <p:nvSpPr>
          <p:cNvPr id="132" name="Text 33">
            <a:extLst xmlns:a="http://schemas.openxmlformats.org/drawingml/2006/main">
              <a:ext uri="{FF2B5EF4-FFF2-40B4-BE49-F238E27FC236}">
                <a16:creationId xmlns:a16="http://schemas.microsoft.com/office/drawing/2014/main" id="{32BA993E-707B-45B8-BEB5-E43D8ED0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97480"/>
            <a:ext cx="461700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i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Nichols, Wade &amp; Stephenson (2026), Nature Geoscience</a:t>
            </a:r>
          </a:p>
        </p:txBody>
      </p:sp>
      <p:sp>
        <p:nvSpPr>
          <p:cNvPr id="133" name="Text 34">
            <a:extLst xmlns:a="http://schemas.openxmlformats.org/drawingml/2006/main">
              <a:ext uri="{FF2B5EF4-FFF2-40B4-BE49-F238E27FC236}">
                <a16:creationId xmlns:a16="http://schemas.microsoft.com/office/drawing/2014/main" id="{7DB2CD6B-4E8E-498E-B0DF-E31D8E9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54680"/>
            <a:ext cx="4617000" cy="146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50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Dated palaeointensity and Ti-bearing samples motivate a time-dependent core–mantle boundary melting and dynamo hypothesis.</a:t>
            </a:r>
          </a:p>
        </p:txBody>
      </p:sp>
      <p:sp>
        <p:nvSpPr>
          <p:cNvPr id="134" name="Text 35">
            <a:extLst xmlns:a="http://schemas.openxmlformats.org/drawingml/2006/main">
              <a:ext uri="{FF2B5EF4-FFF2-40B4-BE49-F238E27FC236}">
                <a16:creationId xmlns:a16="http://schemas.microsoft.com/office/drawing/2014/main" id="{BE02E76C-3B84-43A8-B7D1-13BCA8C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257800"/>
            <a:ext cx="461700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i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Temporal mechanism</a:t>
            </a:r>
          </a:p>
        </p:txBody>
      </p:sp>
      <p:sp>
        <p:nvSpPr>
          <p:cNvPr id="135" name="Shape 36">
            <a:extLst xmlns:a="http://schemas.openxmlformats.org/drawingml/2006/main">
              <a:ext uri="{FF2B5EF4-FFF2-40B4-BE49-F238E27FC236}">
                <a16:creationId xmlns:a16="http://schemas.microsoft.com/office/drawing/2014/main" id="{35358018-1817-4AD4-B218-82CC1547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080" cy="411408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5AC8E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6" name="Shape 37">
            <a:extLst xmlns:a="http://schemas.openxmlformats.org/drawingml/2006/main">
              <a:ext uri="{FF2B5EF4-FFF2-40B4-BE49-F238E27FC236}">
                <a16:creationId xmlns:a16="http://schemas.microsoft.com/office/drawing/2014/main" id="{473FE218-1B42-444B-AB16-D213C12E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12920"/>
            <a:ext cx="236880" cy="236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7" name="Text 38">
            <a:extLst xmlns:a="http://schemas.openxmlformats.org/drawingml/2006/main">
              <a:ext uri="{FF2B5EF4-FFF2-40B4-BE49-F238E27FC236}">
                <a16:creationId xmlns:a16="http://schemas.microsoft.com/office/drawing/2014/main" id="{5A142C35-8FE1-4329-9414-77978612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21480"/>
            <a:ext cx="443412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00" b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Benchmark · impact antipodes</a:t>
            </a:r>
          </a:p>
        </p:txBody>
      </p:sp>
      <p:sp>
        <p:nvSpPr>
          <p:cNvPr id="138" name="Text 39">
            <a:extLst xmlns:a="http://schemas.openxmlformats.org/drawingml/2006/main">
              <a:ext uri="{FF2B5EF4-FFF2-40B4-BE49-F238E27FC236}">
                <a16:creationId xmlns:a16="http://schemas.microsoft.com/office/drawing/2014/main" id="{7E7A7992-9ED0-49CD-8F88-7E4C6370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697480"/>
            <a:ext cx="461700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i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Hood &amp; Artemieva (2008), Icarus</a:t>
            </a:r>
          </a:p>
        </p:txBody>
      </p:sp>
      <p:sp>
        <p:nvSpPr>
          <p:cNvPr id="139" name="Text 40">
            <a:extLst xmlns:a="http://schemas.openxmlformats.org/drawingml/2006/main">
              <a:ext uri="{FF2B5EF4-FFF2-40B4-BE49-F238E27FC236}">
                <a16:creationId xmlns:a16="http://schemas.microsoft.com/office/drawing/2014/main" id="{839A9370-3358-4A5E-BBD3-B42F0091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4617000" cy="146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50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Fold-matched H2 PR-AUC .110579 vs null mean .031970, SD .026728 and 95th .106832 (p=.039604).</a:t>
            </a:r>
          </a:p>
        </p:txBody>
      </p:sp>
      <p:sp>
        <p:nvSpPr>
          <p:cNvPr id="140" name="Text 41">
            <a:extLst xmlns:a="http://schemas.openxmlformats.org/drawingml/2006/main">
              <a:ext uri="{FF2B5EF4-FFF2-40B4-BE49-F238E27FC236}">
                <a16:creationId xmlns:a16="http://schemas.microsoft.com/office/drawing/2014/main" id="{1A49B04F-2D1D-4CB1-9004-314BA90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257800"/>
            <a:ext cx="461700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i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100 accepted shifts · 5/5 folds evaluable</a:t>
            </a:r>
          </a:p>
        </p:txBody>
      </p:sp>
    </p:spTree>
    <p:extLst>
      <p:ext uri="{BB962C8B-B14F-4D97-AF65-F5344CB8AC3E}">
        <p14:creationId xmlns:p14="http://schemas.microsoft.com/office/powerpoint/2010/main" val="1321932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Shape 0">
            <a:extLst xmlns:a="http://schemas.openxmlformats.org/drawingml/2006/main">
              <a:ext uri="{FF2B5EF4-FFF2-40B4-BE49-F238E27FC236}">
                <a16:creationId xmlns:a16="http://schemas.microsoft.com/office/drawing/2014/main" id="{26FBB59A-E0F9-46CF-A7C8-9B8EAE9B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2" name="Shape 1">
            <a:extLst xmlns:a="http://schemas.openxmlformats.org/drawingml/2006/main">
              <a:ext uri="{FF2B5EF4-FFF2-40B4-BE49-F238E27FC236}">
                <a16:creationId xmlns:a16="http://schemas.microsoft.com/office/drawing/2014/main" id="{BB1C1D57-3D3A-4854-91B4-571CFCDE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3" name="Shape 2">
            <a:extLst xmlns:a="http://schemas.openxmlformats.org/drawingml/2006/main">
              <a:ext uri="{FF2B5EF4-FFF2-40B4-BE49-F238E27FC236}">
                <a16:creationId xmlns:a16="http://schemas.microsoft.com/office/drawing/2014/main" id="{802B74A7-99B7-4710-AF9E-9C630F3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4" name="Shape 3">
            <a:extLst xmlns:a="http://schemas.openxmlformats.org/drawingml/2006/main">
              <a:ext uri="{FF2B5EF4-FFF2-40B4-BE49-F238E27FC236}">
                <a16:creationId xmlns:a16="http://schemas.microsoft.com/office/drawing/2014/main" id="{33753179-0368-4C82-91F4-3F603B3A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5" name="Shape 4">
            <a:extLst xmlns:a="http://schemas.openxmlformats.org/drawingml/2006/main">
              <a:ext uri="{FF2B5EF4-FFF2-40B4-BE49-F238E27FC236}">
                <a16:creationId xmlns:a16="http://schemas.microsoft.com/office/drawing/2014/main" id="{ABCA8A29-0036-40F8-AA7D-904238E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6" name="Shape 5">
            <a:extLst xmlns:a="http://schemas.openxmlformats.org/drawingml/2006/main">
              <a:ext uri="{FF2B5EF4-FFF2-40B4-BE49-F238E27FC236}">
                <a16:creationId xmlns:a16="http://schemas.microsoft.com/office/drawing/2014/main" id="{DB90B590-FFEB-4A9F-AAC0-54C3A282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7" name="Shape 6">
            <a:extLst xmlns:a="http://schemas.openxmlformats.org/drawingml/2006/main">
              <a:ext uri="{FF2B5EF4-FFF2-40B4-BE49-F238E27FC236}">
                <a16:creationId xmlns:a16="http://schemas.microsoft.com/office/drawing/2014/main" id="{BE93E2ED-FC4D-4CEA-B04C-552C756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8" name="Shape 7">
            <a:extLst xmlns:a="http://schemas.openxmlformats.org/drawingml/2006/main">
              <a:ext uri="{FF2B5EF4-FFF2-40B4-BE49-F238E27FC236}">
                <a16:creationId xmlns:a16="http://schemas.microsoft.com/office/drawing/2014/main" id="{C560A665-2800-4ADB-8A25-DA7F668F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9" name="Shape 8">
            <a:extLst xmlns:a="http://schemas.openxmlformats.org/drawingml/2006/main">
              <a:ext uri="{FF2B5EF4-FFF2-40B4-BE49-F238E27FC236}">
                <a16:creationId xmlns:a16="http://schemas.microsoft.com/office/drawing/2014/main" id="{FA989AC2-117C-4EDF-89AB-3CA7325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0" name="Shape 9">
            <a:extLst xmlns:a="http://schemas.openxmlformats.org/drawingml/2006/main">
              <a:ext uri="{FF2B5EF4-FFF2-40B4-BE49-F238E27FC236}">
                <a16:creationId xmlns:a16="http://schemas.microsoft.com/office/drawing/2014/main" id="{8598807F-CDA0-4B49-934E-FDC23AE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1" name="Shape 10">
            <a:extLst xmlns:a="http://schemas.openxmlformats.org/drawingml/2006/main">
              <a:ext uri="{FF2B5EF4-FFF2-40B4-BE49-F238E27FC236}">
                <a16:creationId xmlns:a16="http://schemas.microsoft.com/office/drawing/2014/main" id="{D2849216-7964-4B71-A780-35EB4ECC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2" name="Shape 11">
            <a:extLst xmlns:a="http://schemas.openxmlformats.org/drawingml/2006/main">
              <a:ext uri="{FF2B5EF4-FFF2-40B4-BE49-F238E27FC236}">
                <a16:creationId xmlns:a16="http://schemas.microsoft.com/office/drawing/2014/main" id="{D9A71D8B-E66D-49D0-B6FA-0B7343B1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3" name="Shape 12">
            <a:extLst xmlns:a="http://schemas.openxmlformats.org/drawingml/2006/main">
              <a:ext uri="{FF2B5EF4-FFF2-40B4-BE49-F238E27FC236}">
                <a16:creationId xmlns:a16="http://schemas.microsoft.com/office/drawing/2014/main" id="{23BF9F80-3583-4E6B-99A9-E48C22C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4" name="Shape 13">
            <a:extLst xmlns:a="http://schemas.openxmlformats.org/drawingml/2006/main">
              <a:ext uri="{FF2B5EF4-FFF2-40B4-BE49-F238E27FC236}">
                <a16:creationId xmlns:a16="http://schemas.microsoft.com/office/drawing/2014/main" id="{EE66D62D-CAAE-47B0-B7CC-F9C204F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5" name="Shape 14">
            <a:extLst xmlns:a="http://schemas.openxmlformats.org/drawingml/2006/main">
              <a:ext uri="{FF2B5EF4-FFF2-40B4-BE49-F238E27FC236}">
                <a16:creationId xmlns:a16="http://schemas.microsoft.com/office/drawing/2014/main" id="{4A78CCCF-3D66-4F54-8F47-C3D8AA0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6" name="Shape 15">
            <a:extLst xmlns:a="http://schemas.openxmlformats.org/drawingml/2006/main">
              <a:ext uri="{FF2B5EF4-FFF2-40B4-BE49-F238E27FC236}">
                <a16:creationId xmlns:a16="http://schemas.microsoft.com/office/drawing/2014/main" id="{F87ADEDD-E04C-49D3-BECE-38AC009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7" name="Shape 16">
            <a:extLst xmlns:a="http://schemas.openxmlformats.org/drawingml/2006/main">
              <a:ext uri="{FF2B5EF4-FFF2-40B4-BE49-F238E27FC236}">
                <a16:creationId xmlns:a16="http://schemas.microsoft.com/office/drawing/2014/main" id="{079D2373-3616-4079-9403-B66F781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8" name="Shape 17">
            <a:extLst xmlns:a="http://schemas.openxmlformats.org/drawingml/2006/main">
              <a:ext uri="{FF2B5EF4-FFF2-40B4-BE49-F238E27FC236}">
                <a16:creationId xmlns:a16="http://schemas.microsoft.com/office/drawing/2014/main" id="{F23D890D-0EA7-4D05-BD56-8663FD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9" name="Shape 18">
            <a:extLst xmlns:a="http://schemas.openxmlformats.org/drawingml/2006/main">
              <a:ext uri="{FF2B5EF4-FFF2-40B4-BE49-F238E27FC236}">
                <a16:creationId xmlns:a16="http://schemas.microsoft.com/office/drawing/2014/main" id="{A2E86E9D-D7D0-4643-8682-825FDDF7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0" name="Shape 19">
            <a:extLst xmlns:a="http://schemas.openxmlformats.org/drawingml/2006/main">
              <a:ext uri="{FF2B5EF4-FFF2-40B4-BE49-F238E27FC236}">
                <a16:creationId xmlns:a16="http://schemas.microsoft.com/office/drawing/2014/main" id="{6F116D10-3DF3-4E8F-AAF4-D28FE0F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1" name="Shape 20">
            <a:extLst xmlns:a="http://schemas.openxmlformats.org/drawingml/2006/main">
              <a:ext uri="{FF2B5EF4-FFF2-40B4-BE49-F238E27FC236}">
                <a16:creationId xmlns:a16="http://schemas.microsoft.com/office/drawing/2014/main" id="{4BB9D233-8D92-402D-B8F0-9541D98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2" name="Shape 21">
            <a:extLst xmlns:a="http://schemas.openxmlformats.org/drawingml/2006/main">
              <a:ext uri="{FF2B5EF4-FFF2-40B4-BE49-F238E27FC236}">
                <a16:creationId xmlns:a16="http://schemas.microsoft.com/office/drawing/2014/main" id="{F78CDD5A-585B-42B1-AA5A-60CD2C2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3" name="Shape 22">
            <a:extLst xmlns:a="http://schemas.openxmlformats.org/drawingml/2006/main">
              <a:ext uri="{FF2B5EF4-FFF2-40B4-BE49-F238E27FC236}">
                <a16:creationId xmlns:a16="http://schemas.microsoft.com/office/drawing/2014/main" id="{4A5FEA95-BE25-4B0E-9D36-0749060C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4" name="Shape 23">
            <a:extLst xmlns:a="http://schemas.openxmlformats.org/drawingml/2006/main">
              <a:ext uri="{FF2B5EF4-FFF2-40B4-BE49-F238E27FC236}">
                <a16:creationId xmlns:a16="http://schemas.microsoft.com/office/drawing/2014/main" id="{70788195-6E42-4185-8B7D-4440681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5" name="Shape 24">
            <a:extLst xmlns:a="http://schemas.openxmlformats.org/drawingml/2006/main">
              <a:ext uri="{FF2B5EF4-FFF2-40B4-BE49-F238E27FC236}">
                <a16:creationId xmlns:a16="http://schemas.microsoft.com/office/drawing/2014/main" id="{ECB33D5F-6C96-4479-80B1-2D25B7EB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6" name="Shape 25">
            <a:extLst xmlns:a="http://schemas.openxmlformats.org/drawingml/2006/main">
              <a:ext uri="{FF2B5EF4-FFF2-40B4-BE49-F238E27FC236}">
                <a16:creationId xmlns:a16="http://schemas.microsoft.com/office/drawing/2014/main" id="{9A53641B-AC21-47C7-90F2-C1E9B3B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7" name="Shape 26">
            <a:extLst xmlns:a="http://schemas.openxmlformats.org/drawingml/2006/main">
              <a:ext uri="{FF2B5EF4-FFF2-40B4-BE49-F238E27FC236}">
                <a16:creationId xmlns:a16="http://schemas.microsoft.com/office/drawing/2014/main" id="{E200EFE1-D3FF-4281-BA0D-01059FD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8" name="Shape 27">
            <a:extLst xmlns:a="http://schemas.openxmlformats.org/drawingml/2006/main">
              <a:ext uri="{FF2B5EF4-FFF2-40B4-BE49-F238E27FC236}">
                <a16:creationId xmlns:a16="http://schemas.microsoft.com/office/drawing/2014/main" id="{E798922A-BC67-4CC5-BDC8-45F32F54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9" name="Text 28">
            <a:extLst xmlns:a="http://schemas.openxmlformats.org/drawingml/2006/main">
              <a:ext uri="{FF2B5EF4-FFF2-40B4-BE49-F238E27FC236}">
                <a16:creationId xmlns:a16="http://schemas.microsoft.com/office/drawing/2014/main" id="{48F36E06-1DCA-4948-A310-78B00C69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THE ANSWERABLE QUESTION</a:t>
            </a:r>
          </a:p>
        </p:txBody>
      </p:sp>
      <p:sp>
        <p:nvSpPr>
          <p:cNvPr id="170" name="Text 29">
            <a:extLst xmlns:a="http://schemas.openxmlformats.org/drawingml/2006/main">
              <a:ext uri="{FF2B5EF4-FFF2-40B4-BE49-F238E27FC236}">
                <a16:creationId xmlns:a16="http://schemas.microsoft.com/office/drawing/2014/main" id="{E499A190-5C6F-4E32-A9CE-DECE01E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10972080" cy="182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38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Does surface </a:t>
            </a:r>
            <a:r>
              <a:rPr sz="3800" b="1" u="none">
                <a:solidFill>
                  <a:srgbClr val="F2A93B"/>
                </a:solidFill>
                <a:latin typeface="Cambria"/>
                <a:ea typeface="Cambria"/>
                <a:cs typeface="Cambria"/>
              </a:rPr>
              <a:t>TiO₂</a:t>
            </a:r>
            <a:r>
              <a:rPr sz="38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 add spatial information for crustal magnetism </a:t>
            </a:r>
            <a:r>
              <a:rPr sz="3800" b="1" u="none">
                <a:solidFill>
                  <a:srgbClr val="5AC8E6"/>
                </a:solidFill>
                <a:latin typeface="Cambria"/>
                <a:ea typeface="Cambria"/>
                <a:cs typeface="Cambria"/>
              </a:rPr>
              <a:t>after mapped geologic controls</a:t>
            </a:r>
            <a:r>
              <a:rPr sz="38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?</a:t>
            </a:r>
          </a:p>
        </p:txBody>
      </p:sp>
      <p:sp>
        <p:nvSpPr>
          <p:cNvPr id="171" name="Shape 30">
            <a:extLst xmlns:a="http://schemas.openxmlformats.org/drawingml/2006/main">
              <a:ext uri="{FF2B5EF4-FFF2-40B4-BE49-F238E27FC236}">
                <a16:creationId xmlns:a16="http://schemas.microsoft.com/office/drawing/2014/main" id="{2B25D3BB-1FAB-443B-9A9E-516437F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3565440" cy="21938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2" name="Shape 31">
            <a:extLst xmlns:a="http://schemas.openxmlformats.org/drawingml/2006/main">
              <a:ext uri="{FF2B5EF4-FFF2-40B4-BE49-F238E27FC236}">
                <a16:creationId xmlns:a16="http://schemas.microsoft.com/office/drawing/2014/main" id="{F69625D0-0B24-4F47-AFF1-49F01C4D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1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3" name="Text 32">
            <a:extLst xmlns:a="http://schemas.openxmlformats.org/drawingml/2006/main">
              <a:ext uri="{FF2B5EF4-FFF2-40B4-BE49-F238E27FC236}">
                <a16:creationId xmlns:a16="http://schemas.microsoft.com/office/drawing/2014/main" id="{0123D770-E956-4F2C-997C-4C9121D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1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4" name="Text 33">
            <a:extLst xmlns:a="http://schemas.openxmlformats.org/drawingml/2006/main">
              <a:ext uri="{FF2B5EF4-FFF2-40B4-BE49-F238E27FC236}">
                <a16:creationId xmlns:a16="http://schemas.microsoft.com/office/drawing/2014/main" id="{A84F7C5E-DDC1-4651-9EBF-ED47E9BF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301680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Repository plan</a:t>
            </a:r>
          </a:p>
        </p:txBody>
      </p:sp>
      <p:sp>
        <p:nvSpPr>
          <p:cNvPr id="175" name="Text 34">
            <a:extLst xmlns:a="http://schemas.openxmlformats.org/drawingml/2006/main">
              <a:ext uri="{FF2B5EF4-FFF2-40B4-BE49-F238E27FC236}">
                <a16:creationId xmlns:a16="http://schemas.microsoft.com/office/drawing/2014/main" id="{4091A177-4968-4FCA-97C0-F02E3DCE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30168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Success and failure criteria are fixed in the plan and code the pipeline runs.</a:t>
            </a:r>
          </a:p>
        </p:txBody>
      </p:sp>
      <p:sp>
        <p:nvSpPr>
          <p:cNvPr id="176" name="Shape 35">
            <a:extLst xmlns:a="http://schemas.openxmlformats.org/drawingml/2006/main">
              <a:ext uri="{FF2B5EF4-FFF2-40B4-BE49-F238E27FC236}">
                <a16:creationId xmlns:a16="http://schemas.microsoft.com/office/drawing/2014/main" id="{5E9E4EBD-21A7-4AE9-88E1-7B507F08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840480"/>
            <a:ext cx="3565440" cy="21938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7" name="Shape 36">
            <a:extLst xmlns:a="http://schemas.openxmlformats.org/drawingml/2006/main">
              <a:ext uri="{FF2B5EF4-FFF2-40B4-BE49-F238E27FC236}">
                <a16:creationId xmlns:a16="http://schemas.microsoft.com/office/drawing/2014/main" id="{91FE025D-EE04-49A5-8AB4-36644FFC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1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78" name="Text 37">
            <a:extLst xmlns:a="http://schemas.openxmlformats.org/drawingml/2006/main">
              <a:ext uri="{FF2B5EF4-FFF2-40B4-BE49-F238E27FC236}">
                <a16:creationId xmlns:a16="http://schemas.microsoft.com/office/drawing/2014/main" id="{948FB42A-538A-4582-B164-94DD992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1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9" name="Text 38">
            <a:extLst xmlns:a="http://schemas.openxmlformats.org/drawingml/2006/main">
              <a:ext uri="{FF2B5EF4-FFF2-40B4-BE49-F238E27FC236}">
                <a16:creationId xmlns:a16="http://schemas.microsoft.com/office/drawing/2014/main" id="{8D664FE3-CBAD-4EA5-95F3-8248FBC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54880"/>
            <a:ext cx="301680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Power-gated</a:t>
            </a:r>
          </a:p>
        </p:txBody>
      </p:sp>
      <p:sp>
        <p:nvSpPr>
          <p:cNvPr id="180" name="Text 39">
            <a:extLst xmlns:a="http://schemas.openxmlformats.org/drawingml/2006/main">
              <a:ext uri="{FF2B5EF4-FFF2-40B4-BE49-F238E27FC236}">
                <a16:creationId xmlns:a16="http://schemas.microsoft.com/office/drawing/2014/main" id="{7C8CD1E6-0274-4BA7-9F14-7D89953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66360"/>
            <a:ext cx="30168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Positive and negative outcomes are explicit; negative claims require adequate detection power.</a:t>
            </a:r>
          </a:p>
        </p:txBody>
      </p:sp>
      <p:sp>
        <p:nvSpPr>
          <p:cNvPr id="181" name="Shape 40">
            <a:extLst xmlns:a="http://schemas.openxmlformats.org/drawingml/2006/main">
              <a:ext uri="{FF2B5EF4-FFF2-40B4-BE49-F238E27FC236}">
                <a16:creationId xmlns:a16="http://schemas.microsoft.com/office/drawing/2014/main" id="{0279FB80-C461-4A9D-91AA-78960CDB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40480"/>
            <a:ext cx="3565440" cy="21938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2" name="Shape 41">
            <a:extLst xmlns:a="http://schemas.openxmlformats.org/drawingml/2006/main">
              <a:ext uri="{FF2B5EF4-FFF2-40B4-BE49-F238E27FC236}">
                <a16:creationId xmlns:a16="http://schemas.microsoft.com/office/drawing/2014/main" id="{F386955F-56FA-4D0E-95DB-F4AF19D9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1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3" name="Text 42">
            <a:extLst xmlns:a="http://schemas.openxmlformats.org/drawingml/2006/main">
              <a:ext uri="{FF2B5EF4-FFF2-40B4-BE49-F238E27FC236}">
                <a16:creationId xmlns:a16="http://schemas.microsoft.com/office/drawing/2014/main" id="{302F184C-1B32-4EE7-809B-AA95959A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1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4" name="Text 43">
            <a:extLst xmlns:a="http://schemas.openxmlformats.org/drawingml/2006/main">
              <a:ext uri="{FF2B5EF4-FFF2-40B4-BE49-F238E27FC236}">
                <a16:creationId xmlns:a16="http://schemas.microsoft.com/office/drawing/2014/main" id="{98EC0DA7-6312-4712-91D5-6175F5F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01680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Scope-limited</a:t>
            </a:r>
          </a:p>
        </p:txBody>
      </p:sp>
      <p:sp>
        <p:nvSpPr>
          <p:cNvPr id="185" name="Text 44">
            <a:extLst xmlns:a="http://schemas.openxmlformats.org/drawingml/2006/main">
              <a:ext uri="{FF2B5EF4-FFF2-40B4-BE49-F238E27FC236}">
                <a16:creationId xmlns:a16="http://schemas.microsoft.com/office/drawing/2014/main" id="{791BE647-CE4D-4AC6-9C5F-6839BF1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66360"/>
            <a:ext cx="30168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The result concerns spatial co-location—not Nichols et al.'s temporal dynamo mechanism.</a:t>
            </a:r>
          </a:p>
        </p:txBody>
      </p:sp>
    </p:spTree>
    <p:extLst>
      <p:ext uri="{BB962C8B-B14F-4D97-AF65-F5344CB8AC3E}">
        <p14:creationId xmlns:p14="http://schemas.microsoft.com/office/powerpoint/2010/main" val="2025839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Shape 0">
            <a:extLst xmlns:a="http://schemas.openxmlformats.org/drawingml/2006/main">
              <a:ext uri="{FF2B5EF4-FFF2-40B4-BE49-F238E27FC236}">
                <a16:creationId xmlns:a16="http://schemas.microsoft.com/office/drawing/2014/main" id="{61833A0F-16DA-457C-8CDA-38C0D616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7" name="Shape 1">
            <a:extLst xmlns:a="http://schemas.openxmlformats.org/drawingml/2006/main">
              <a:ext uri="{FF2B5EF4-FFF2-40B4-BE49-F238E27FC236}">
                <a16:creationId xmlns:a16="http://schemas.microsoft.com/office/drawing/2014/main" id="{C4A0F355-1D2A-43CF-91B1-44DEB3BE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8" name="Shape 2">
            <a:extLst xmlns:a="http://schemas.openxmlformats.org/drawingml/2006/main">
              <a:ext uri="{FF2B5EF4-FFF2-40B4-BE49-F238E27FC236}">
                <a16:creationId xmlns:a16="http://schemas.microsoft.com/office/drawing/2014/main" id="{2EF80E44-FF15-49BF-9DA4-1CCA5882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9" name="Shape 3">
            <a:extLst xmlns:a="http://schemas.openxmlformats.org/drawingml/2006/main">
              <a:ext uri="{FF2B5EF4-FFF2-40B4-BE49-F238E27FC236}">
                <a16:creationId xmlns:a16="http://schemas.microsoft.com/office/drawing/2014/main" id="{4FDA2D87-5C17-45E0-98A3-DBADFF4E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0" name="Shape 4">
            <a:extLst xmlns:a="http://schemas.openxmlformats.org/drawingml/2006/main">
              <a:ext uri="{FF2B5EF4-FFF2-40B4-BE49-F238E27FC236}">
                <a16:creationId xmlns:a16="http://schemas.microsoft.com/office/drawing/2014/main" id="{9B933E05-1B5D-4D08-9E0B-F537FBFE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1" name="Shape 5">
            <a:extLst xmlns:a="http://schemas.openxmlformats.org/drawingml/2006/main">
              <a:ext uri="{FF2B5EF4-FFF2-40B4-BE49-F238E27FC236}">
                <a16:creationId xmlns:a16="http://schemas.microsoft.com/office/drawing/2014/main" id="{71CB9CF0-9EC8-4760-A17A-ADAE7680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2" name="Shape 6">
            <a:extLst xmlns:a="http://schemas.openxmlformats.org/drawingml/2006/main">
              <a:ext uri="{FF2B5EF4-FFF2-40B4-BE49-F238E27FC236}">
                <a16:creationId xmlns:a16="http://schemas.microsoft.com/office/drawing/2014/main" id="{4B761E35-AFAC-4F17-A752-1571DD85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3" name="Shape 7">
            <a:extLst xmlns:a="http://schemas.openxmlformats.org/drawingml/2006/main">
              <a:ext uri="{FF2B5EF4-FFF2-40B4-BE49-F238E27FC236}">
                <a16:creationId xmlns:a16="http://schemas.microsoft.com/office/drawing/2014/main" id="{50D1F167-13AA-470F-915D-C905417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4" name="Shape 8">
            <a:extLst xmlns:a="http://schemas.openxmlformats.org/drawingml/2006/main">
              <a:ext uri="{FF2B5EF4-FFF2-40B4-BE49-F238E27FC236}">
                <a16:creationId xmlns:a16="http://schemas.microsoft.com/office/drawing/2014/main" id="{86691E8B-5CD6-4E04-A339-001D1A85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5" name="Shape 9">
            <a:extLst xmlns:a="http://schemas.openxmlformats.org/drawingml/2006/main">
              <a:ext uri="{FF2B5EF4-FFF2-40B4-BE49-F238E27FC236}">
                <a16:creationId xmlns:a16="http://schemas.microsoft.com/office/drawing/2014/main" id="{B8651E09-5CAA-46A4-9F89-3C1AC40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6" name="Shape 10">
            <a:extLst xmlns:a="http://schemas.openxmlformats.org/drawingml/2006/main">
              <a:ext uri="{FF2B5EF4-FFF2-40B4-BE49-F238E27FC236}">
                <a16:creationId xmlns:a16="http://schemas.microsoft.com/office/drawing/2014/main" id="{993181E0-34F2-45FD-A179-B8B2C72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7" name="Shape 11">
            <a:extLst xmlns:a="http://schemas.openxmlformats.org/drawingml/2006/main">
              <a:ext uri="{FF2B5EF4-FFF2-40B4-BE49-F238E27FC236}">
                <a16:creationId xmlns:a16="http://schemas.microsoft.com/office/drawing/2014/main" id="{C65500E9-AF49-45C1-A3CA-4DCC2EE9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8" name="Shape 12">
            <a:extLst xmlns:a="http://schemas.openxmlformats.org/drawingml/2006/main">
              <a:ext uri="{FF2B5EF4-FFF2-40B4-BE49-F238E27FC236}">
                <a16:creationId xmlns:a16="http://schemas.microsoft.com/office/drawing/2014/main" id="{D6B2CA99-F24C-4135-ACBD-445B24AB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9" name="Shape 13">
            <a:extLst xmlns:a="http://schemas.openxmlformats.org/drawingml/2006/main">
              <a:ext uri="{FF2B5EF4-FFF2-40B4-BE49-F238E27FC236}">
                <a16:creationId xmlns:a16="http://schemas.microsoft.com/office/drawing/2014/main" id="{5CB65556-9EB9-4B3C-908D-FE6618E4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0" name="Shape 14">
            <a:extLst xmlns:a="http://schemas.openxmlformats.org/drawingml/2006/main">
              <a:ext uri="{FF2B5EF4-FFF2-40B4-BE49-F238E27FC236}">
                <a16:creationId xmlns:a16="http://schemas.microsoft.com/office/drawing/2014/main" id="{71AEEC34-19E8-402A-95E1-4F8FBA4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1" name="Shape 15">
            <a:extLst xmlns:a="http://schemas.openxmlformats.org/drawingml/2006/main">
              <a:ext uri="{FF2B5EF4-FFF2-40B4-BE49-F238E27FC236}">
                <a16:creationId xmlns:a16="http://schemas.microsoft.com/office/drawing/2014/main" id="{8AE062CA-18A7-42E0-A6BA-3216E92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2" name="Shape 16">
            <a:extLst xmlns:a="http://schemas.openxmlformats.org/drawingml/2006/main">
              <a:ext uri="{FF2B5EF4-FFF2-40B4-BE49-F238E27FC236}">
                <a16:creationId xmlns:a16="http://schemas.microsoft.com/office/drawing/2014/main" id="{A6471981-BFBA-44DF-B2EC-EC3FAD0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3" name="Shape 17">
            <a:extLst xmlns:a="http://schemas.openxmlformats.org/drawingml/2006/main">
              <a:ext uri="{FF2B5EF4-FFF2-40B4-BE49-F238E27FC236}">
                <a16:creationId xmlns:a16="http://schemas.microsoft.com/office/drawing/2014/main" id="{1EC73BC2-3CD1-4EAD-B173-98D33D96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4" name="Shape 18">
            <a:extLst xmlns:a="http://schemas.openxmlformats.org/drawingml/2006/main">
              <a:ext uri="{FF2B5EF4-FFF2-40B4-BE49-F238E27FC236}">
                <a16:creationId xmlns:a16="http://schemas.microsoft.com/office/drawing/2014/main" id="{6E5E2076-B90B-4B01-A53A-8EBBDE68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5" name="Shape 19">
            <a:extLst xmlns:a="http://schemas.openxmlformats.org/drawingml/2006/main">
              <a:ext uri="{FF2B5EF4-FFF2-40B4-BE49-F238E27FC236}">
                <a16:creationId xmlns:a16="http://schemas.microsoft.com/office/drawing/2014/main" id="{11CAA541-B2CC-44F5-87BF-C9CDCA7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6" name="Shape 20">
            <a:extLst xmlns:a="http://schemas.openxmlformats.org/drawingml/2006/main">
              <a:ext uri="{FF2B5EF4-FFF2-40B4-BE49-F238E27FC236}">
                <a16:creationId xmlns:a16="http://schemas.microsoft.com/office/drawing/2014/main" id="{1CA1159D-5A3B-4424-95F4-70B2E550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7" name="Shape 21">
            <a:extLst xmlns:a="http://schemas.openxmlformats.org/drawingml/2006/main">
              <a:ext uri="{FF2B5EF4-FFF2-40B4-BE49-F238E27FC236}">
                <a16:creationId xmlns:a16="http://schemas.microsoft.com/office/drawing/2014/main" id="{A65933FD-6D49-4142-8296-9502EB2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8" name="Shape 22">
            <a:extLst xmlns:a="http://schemas.openxmlformats.org/drawingml/2006/main">
              <a:ext uri="{FF2B5EF4-FFF2-40B4-BE49-F238E27FC236}">
                <a16:creationId xmlns:a16="http://schemas.microsoft.com/office/drawing/2014/main" id="{89985386-8405-4139-B20F-49E049BB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9" name="Shape 23">
            <a:extLst xmlns:a="http://schemas.openxmlformats.org/drawingml/2006/main">
              <a:ext uri="{FF2B5EF4-FFF2-40B4-BE49-F238E27FC236}">
                <a16:creationId xmlns:a16="http://schemas.microsoft.com/office/drawing/2014/main" id="{5A5AB01F-DEF6-44FC-8D16-41DDE98E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0" name="Shape 24">
            <a:extLst xmlns:a="http://schemas.openxmlformats.org/drawingml/2006/main">
              <a:ext uri="{FF2B5EF4-FFF2-40B4-BE49-F238E27FC236}">
                <a16:creationId xmlns:a16="http://schemas.microsoft.com/office/drawing/2014/main" id="{A5120175-AFC4-428A-979E-A6959170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1" name="Shape 25">
            <a:extLst xmlns:a="http://schemas.openxmlformats.org/drawingml/2006/main">
              <a:ext uri="{FF2B5EF4-FFF2-40B4-BE49-F238E27FC236}">
                <a16:creationId xmlns:a16="http://schemas.microsoft.com/office/drawing/2014/main" id="{67729DBA-E687-4E71-BD31-4A60FD6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2" name="Shape 26">
            <a:extLst xmlns:a="http://schemas.openxmlformats.org/drawingml/2006/main">
              <a:ext uri="{FF2B5EF4-FFF2-40B4-BE49-F238E27FC236}">
                <a16:creationId xmlns:a16="http://schemas.microsoft.com/office/drawing/2014/main" id="{4F002B07-2FE0-4B0D-AA0C-230180C7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3" name="Shape 27">
            <a:extLst xmlns:a="http://schemas.openxmlformats.org/drawingml/2006/main">
              <a:ext uri="{FF2B5EF4-FFF2-40B4-BE49-F238E27FC236}">
                <a16:creationId xmlns:a16="http://schemas.microsoft.com/office/drawing/2014/main" id="{8B10DDB1-D70D-4B9B-8CCA-256DB4B4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4" name="Text 28">
            <a:extLst xmlns:a="http://schemas.openxmlformats.org/drawingml/2006/main">
              <a:ext uri="{FF2B5EF4-FFF2-40B4-BE49-F238E27FC236}">
                <a16:creationId xmlns:a16="http://schemas.microsoft.com/office/drawing/2014/main" id="{B34F1B98-2E86-4C28-A60E-FEC1BA36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 spc="30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THE EVIDENCE</a:t>
            </a:r>
          </a:p>
        </p:txBody>
      </p:sp>
      <p:sp>
        <p:nvSpPr>
          <p:cNvPr id="215" name="Text 29">
            <a:extLst xmlns:a="http://schemas.openxmlformats.org/drawingml/2006/main">
              <a:ext uri="{FF2B5EF4-FFF2-40B4-BE49-F238E27FC236}">
                <a16:creationId xmlns:a16="http://schemas.microsoft.com/office/drawing/2014/main" id="{3BE7562A-9265-4FA9-8A35-2AE4DA88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Five global datasets, plus a mapped mare-proxy mask</a:t>
            </a:r>
          </a:p>
        </p:txBody>
      </p:sp>
      <p:sp>
        <p:nvSpPr>
          <p:cNvPr id="216" name="Shape 30">
            <a:extLst xmlns:a="http://schemas.openxmlformats.org/drawingml/2006/main">
              <a:ext uri="{FF2B5EF4-FFF2-40B4-BE49-F238E27FC236}">
                <a16:creationId xmlns:a16="http://schemas.microsoft.com/office/drawing/2014/main" id="{4319FB27-EE50-46E7-BD05-28081946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7223040" cy="78552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7" name="Shape 31">
            <a:extLst xmlns:a="http://schemas.openxmlformats.org/drawingml/2006/main">
              <a:ext uri="{FF2B5EF4-FFF2-40B4-BE49-F238E27FC236}">
                <a16:creationId xmlns:a16="http://schemas.microsoft.com/office/drawing/2014/main" id="{939E37B1-54CF-4214-8122-540ABA1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12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8" name="Text 32">
            <a:extLst xmlns:a="http://schemas.openxmlformats.org/drawingml/2006/main">
              <a:ext uri="{FF2B5EF4-FFF2-40B4-BE49-F238E27FC236}">
                <a16:creationId xmlns:a16="http://schemas.microsoft.com/office/drawing/2014/main" id="{35AFF1B2-CF70-448C-8B6D-660CB36D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92880"/>
            <a:ext cx="64000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5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Magnetic field  (what we predict)</a:t>
            </a:r>
          </a:p>
        </p:txBody>
      </p:sp>
      <p:sp>
        <p:nvSpPr>
          <p:cNvPr id="219" name="Text 33">
            <a:extLst xmlns:a="http://schemas.openxmlformats.org/drawingml/2006/main">
              <a:ext uri="{FF2B5EF4-FFF2-40B4-BE49-F238E27FC236}">
                <a16:creationId xmlns:a16="http://schemas.microsoft.com/office/drawing/2014/main" id="{69FEEE55-D347-43FD-9B2E-29CB084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203560"/>
            <a:ext cx="64000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Kaguya + Lunar Prospector surface vector map</a:t>
            </a:r>
          </a:p>
        </p:txBody>
      </p:sp>
      <p:sp>
        <p:nvSpPr>
          <p:cNvPr id="220" name="Shape 34">
            <a:extLst xmlns:a="http://schemas.openxmlformats.org/drawingml/2006/main">
              <a:ext uri="{FF2B5EF4-FFF2-40B4-BE49-F238E27FC236}">
                <a16:creationId xmlns:a16="http://schemas.microsoft.com/office/drawing/2014/main" id="{A7C03183-FFDA-48DB-99A5-6B71B06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79120"/>
            <a:ext cx="7223040" cy="78552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1" name="Shape 35">
            <a:extLst xmlns:a="http://schemas.openxmlformats.org/drawingml/2006/main">
              <a:ext uri="{FF2B5EF4-FFF2-40B4-BE49-F238E27FC236}">
                <a16:creationId xmlns:a16="http://schemas.microsoft.com/office/drawing/2014/main" id="{521C26A0-8C2E-46D5-AD1B-6A2F9CA5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9016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2" name="Text 36">
            <a:extLst xmlns:a="http://schemas.openxmlformats.org/drawingml/2006/main">
              <a:ext uri="{FF2B5EF4-FFF2-40B4-BE49-F238E27FC236}">
                <a16:creationId xmlns:a16="http://schemas.microsoft.com/office/drawing/2014/main" id="{EE795465-7332-429C-8AE5-A05DFAC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88920"/>
            <a:ext cx="64000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5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Surface titanium — TiO₂  (proxy)</a:t>
            </a:r>
          </a:p>
        </p:txBody>
      </p:sp>
      <p:sp>
        <p:nvSpPr>
          <p:cNvPr id="223" name="Text 37">
            <a:extLst xmlns:a="http://schemas.openxmlformats.org/drawingml/2006/main">
              <a:ext uri="{FF2B5EF4-FFF2-40B4-BE49-F238E27FC236}">
                <a16:creationId xmlns:a16="http://schemas.microsoft.com/office/drawing/2014/main" id="{26DF21F9-9479-4968-B989-24C7A15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99960"/>
            <a:ext cx="64000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LROC WAC UV/Vis abundance map; mare-derived calibration</a:t>
            </a:r>
          </a:p>
        </p:txBody>
      </p:sp>
      <p:sp>
        <p:nvSpPr>
          <p:cNvPr id="224" name="Shape 38">
            <a:extLst xmlns:a="http://schemas.openxmlformats.org/drawingml/2006/main">
              <a:ext uri="{FF2B5EF4-FFF2-40B4-BE49-F238E27FC236}">
                <a16:creationId xmlns:a16="http://schemas.microsoft.com/office/drawing/2014/main" id="{8E1BAE74-493B-46B7-B1BC-50146FC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75160"/>
            <a:ext cx="7223040" cy="78552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5" name="Shape 39">
            <a:extLst xmlns:a="http://schemas.openxmlformats.org/drawingml/2006/main">
              <a:ext uri="{FF2B5EF4-FFF2-40B4-BE49-F238E27FC236}">
                <a16:creationId xmlns:a16="http://schemas.microsoft.com/office/drawing/2014/main" id="{B2AB7B2E-516A-4BEA-81F4-20E2C642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8620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4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6" name="Text 40">
            <a:extLst xmlns:a="http://schemas.openxmlformats.org/drawingml/2006/main">
              <a:ext uri="{FF2B5EF4-FFF2-40B4-BE49-F238E27FC236}">
                <a16:creationId xmlns:a16="http://schemas.microsoft.com/office/drawing/2014/main" id="{6813BA23-F427-4686-95F8-03F936F6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84960"/>
            <a:ext cx="64000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5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Bouguer gravity</a:t>
            </a:r>
          </a:p>
        </p:txBody>
      </p:sp>
      <p:sp>
        <p:nvSpPr>
          <p:cNvPr id="227" name="Text 41">
            <a:extLst xmlns:a="http://schemas.openxmlformats.org/drawingml/2006/main">
              <a:ext uri="{FF2B5EF4-FFF2-40B4-BE49-F238E27FC236}">
                <a16:creationId xmlns:a16="http://schemas.microsoft.com/office/drawing/2014/main" id="{5813E134-13FF-45E7-9186-A4297E0A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96000"/>
            <a:ext cx="64000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GRAIL GRGM1200A — subsurface density structure</a:t>
            </a:r>
          </a:p>
        </p:txBody>
      </p:sp>
      <p:sp>
        <p:nvSpPr>
          <p:cNvPr id="228" name="Shape 42">
            <a:extLst xmlns:a="http://schemas.openxmlformats.org/drawingml/2006/main">
              <a:ext uri="{FF2B5EF4-FFF2-40B4-BE49-F238E27FC236}">
                <a16:creationId xmlns:a16="http://schemas.microsoft.com/office/drawing/2014/main" id="{0D56CC7A-5325-4D76-9E73-1E29335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71560"/>
            <a:ext cx="7223040" cy="78552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9" name="Shape 43">
            <a:extLst xmlns:a="http://schemas.openxmlformats.org/drawingml/2006/main">
              <a:ext uri="{FF2B5EF4-FFF2-40B4-BE49-F238E27FC236}">
                <a16:creationId xmlns:a16="http://schemas.microsoft.com/office/drawing/2014/main" id="{AFB5848C-326E-4FA4-9D2A-7AFFC4F2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8224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4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0" name="Text 44">
            <a:extLst xmlns:a="http://schemas.openxmlformats.org/drawingml/2006/main">
              <a:ext uri="{FF2B5EF4-FFF2-40B4-BE49-F238E27FC236}">
                <a16:creationId xmlns:a16="http://schemas.microsoft.com/office/drawing/2014/main" id="{E06169DF-1385-4455-B502-39D998B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81000"/>
            <a:ext cx="64000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5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Crustal thickness</a:t>
            </a:r>
          </a:p>
        </p:txBody>
      </p:sp>
      <p:sp>
        <p:nvSpPr>
          <p:cNvPr id="231" name="Text 45">
            <a:extLst xmlns:a="http://schemas.openxmlformats.org/drawingml/2006/main">
              <a:ext uri="{FF2B5EF4-FFF2-40B4-BE49-F238E27FC236}">
                <a16:creationId xmlns:a16="http://schemas.microsoft.com/office/drawing/2014/main" id="{C518D8F3-C54B-4540-AE58-E293E474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92040"/>
            <a:ext cx="64000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GRAIL crustal-thickness archive</a:t>
            </a:r>
          </a:p>
        </p:txBody>
      </p:sp>
      <p:sp>
        <p:nvSpPr>
          <p:cNvPr id="232" name="Shape 46">
            <a:extLst xmlns:a="http://schemas.openxmlformats.org/drawingml/2006/main">
              <a:ext uri="{FF2B5EF4-FFF2-40B4-BE49-F238E27FC236}">
                <a16:creationId xmlns:a16="http://schemas.microsoft.com/office/drawing/2014/main" id="{F3D9905E-C445-40A1-877B-7DB835E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67600"/>
            <a:ext cx="7223040" cy="78552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3" name="Shape 47">
            <a:extLst xmlns:a="http://schemas.openxmlformats.org/drawingml/2006/main">
              <a:ext uri="{FF2B5EF4-FFF2-40B4-BE49-F238E27FC236}">
                <a16:creationId xmlns:a16="http://schemas.microsoft.com/office/drawing/2014/main" id="{A7E3DF7A-C38C-4CD9-8910-D344064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7828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7C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4" name="Text 48">
            <a:extLst xmlns:a="http://schemas.openxmlformats.org/drawingml/2006/main">
              <a:ext uri="{FF2B5EF4-FFF2-40B4-BE49-F238E27FC236}">
                <a16:creationId xmlns:a16="http://schemas.microsoft.com/office/drawing/2014/main" id="{EE303171-4281-4C0E-88E3-8AC7495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477400"/>
            <a:ext cx="64000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5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Geology + mare proxy</a:t>
            </a:r>
          </a:p>
        </p:txBody>
      </p:sp>
      <p:sp>
        <p:nvSpPr>
          <p:cNvPr id="235" name="Text 49">
            <a:extLst xmlns:a="http://schemas.openxmlformats.org/drawingml/2006/main">
              <a:ext uri="{FF2B5EF4-FFF2-40B4-BE49-F238E27FC236}">
                <a16:creationId xmlns:a16="http://schemas.microsoft.com/office/drawing/2014/main" id="{5AECA377-0AC4-4F9A-A23E-5E04D7F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788080"/>
            <a:ext cx="64000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USGS units define age and mapped mare-proxy scope</a:t>
            </a:r>
          </a:p>
        </p:txBody>
      </p:sp>
      <p:sp>
        <p:nvSpPr>
          <p:cNvPr id="236" name="Shape 50">
            <a:extLst xmlns:a="http://schemas.openxmlformats.org/drawingml/2006/main">
              <a:ext uri="{FF2B5EF4-FFF2-40B4-BE49-F238E27FC236}">
                <a16:creationId xmlns:a16="http://schemas.microsoft.com/office/drawing/2014/main" id="{3A6A19FF-9B57-44C8-9FB2-2FB6781C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83080"/>
            <a:ext cx="3382560" cy="437004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E2A4E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7" name="Text 51">
            <a:extLst xmlns:a="http://schemas.openxmlformats.org/drawingml/2006/main">
              <a:ext uri="{FF2B5EF4-FFF2-40B4-BE49-F238E27FC236}">
                <a16:creationId xmlns:a16="http://schemas.microsoft.com/office/drawing/2014/main" id="{8A0B72E1-C600-4FCA-AAB4-882FD3E3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48840"/>
            <a:ext cx="274248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~2 GB</a:t>
            </a:r>
          </a:p>
        </p:txBody>
      </p:sp>
      <p:sp>
        <p:nvSpPr>
          <p:cNvPr id="238" name="Text 52">
            <a:extLst xmlns:a="http://schemas.openxmlformats.org/drawingml/2006/main">
              <a:ext uri="{FF2B5EF4-FFF2-40B4-BE49-F238E27FC236}">
                <a16:creationId xmlns:a16="http://schemas.microsoft.com/office/drawing/2014/main" id="{3102E1E5-80DE-4869-B66F-E8301B5D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15840"/>
            <a:ext cx="27424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of institutional data</a:t>
            </a:r>
          </a:p>
        </p:txBody>
      </p:sp>
      <p:sp>
        <p:nvSpPr>
          <p:cNvPr id="239" name="Text 53">
            <a:extLst xmlns:a="http://schemas.openxmlformats.org/drawingml/2006/main">
              <a:ext uri="{FF2B5EF4-FFF2-40B4-BE49-F238E27FC236}">
                <a16:creationId xmlns:a16="http://schemas.microsoft.com/office/drawing/2014/main" id="{6E35EC93-56AF-4A89-AB06-4434B48A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173040"/>
            <a:ext cx="274248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00" b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240" name="Text 54">
            <a:extLst xmlns:a="http://schemas.openxmlformats.org/drawingml/2006/main">
              <a:ext uri="{FF2B5EF4-FFF2-40B4-BE49-F238E27FC236}">
                <a16:creationId xmlns:a16="http://schemas.microsoft.com/office/drawing/2014/main" id="{9822D8BB-AAA5-4FBC-BA80-D281C09E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740040"/>
            <a:ext cx="27424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pinned data products</a:t>
            </a:r>
          </a:p>
        </p:txBody>
      </p:sp>
      <p:sp>
        <p:nvSpPr>
          <p:cNvPr id="241" name="Text 55">
            <a:extLst xmlns:a="http://schemas.openxmlformats.org/drawingml/2006/main">
              <a:ext uri="{FF2B5EF4-FFF2-40B4-BE49-F238E27FC236}">
                <a16:creationId xmlns:a16="http://schemas.microsoft.com/office/drawing/2014/main" id="{67BBB822-5DCE-42A7-95D0-2B0A788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97240"/>
            <a:ext cx="274248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SHA-256</a:t>
            </a:r>
          </a:p>
        </p:txBody>
      </p:sp>
      <p:sp>
        <p:nvSpPr>
          <p:cNvPr id="242" name="Text 56">
            <a:extLst xmlns:a="http://schemas.openxmlformats.org/drawingml/2006/main">
              <a:ext uri="{FF2B5EF4-FFF2-40B4-BE49-F238E27FC236}">
                <a16:creationId xmlns:a16="http://schemas.microsoft.com/office/drawing/2014/main" id="{60451526-AAB7-4971-B52C-D36733C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763880"/>
            <a:ext cx="27424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every byte verified</a:t>
            </a:r>
          </a:p>
        </p:txBody>
      </p:sp>
      <p:sp>
        <p:nvSpPr>
          <p:cNvPr id="243" name="Text 57">
            <a:extLst xmlns:a="http://schemas.openxmlformats.org/drawingml/2006/main">
              <a:ext uri="{FF2B5EF4-FFF2-40B4-BE49-F238E27FC236}">
                <a16:creationId xmlns:a16="http://schemas.microsoft.com/office/drawing/2014/main" id="{163422F0-4E8C-4B61-8C5E-51920DF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221080"/>
            <a:ext cx="274248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00" b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1° grid</a:t>
            </a:r>
          </a:p>
        </p:txBody>
      </p:sp>
      <p:sp>
        <p:nvSpPr>
          <p:cNvPr id="244" name="Text 58">
            <a:extLst xmlns:a="http://schemas.openxmlformats.org/drawingml/2006/main">
              <a:ext uri="{FF2B5EF4-FFF2-40B4-BE49-F238E27FC236}">
                <a16:creationId xmlns:a16="http://schemas.microsoft.com/office/drawing/2014/main" id="{63FE6639-AF18-46A2-A56C-ED2F1636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788080"/>
            <a:ext cx="27424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≈ 30 km at the equator</a:t>
            </a:r>
          </a:p>
        </p:txBody>
      </p:sp>
    </p:spTree>
    <p:extLst>
      <p:ext uri="{BB962C8B-B14F-4D97-AF65-F5344CB8AC3E}">
        <p14:creationId xmlns:p14="http://schemas.microsoft.com/office/powerpoint/2010/main" val="570892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Shape 0">
            <a:extLst xmlns:a="http://schemas.openxmlformats.org/drawingml/2006/main">
              <a:ext uri="{FF2B5EF4-FFF2-40B4-BE49-F238E27FC236}">
                <a16:creationId xmlns:a16="http://schemas.microsoft.com/office/drawing/2014/main" id="{D344C4C6-237A-419B-8038-D6F0F3E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6" name="Shape 1">
            <a:extLst xmlns:a="http://schemas.openxmlformats.org/drawingml/2006/main">
              <a:ext uri="{FF2B5EF4-FFF2-40B4-BE49-F238E27FC236}">
                <a16:creationId xmlns:a16="http://schemas.microsoft.com/office/drawing/2014/main" id="{C09569A4-8F64-4756-87E0-6CC7BB24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7" name="Shape 2">
            <a:extLst xmlns:a="http://schemas.openxmlformats.org/drawingml/2006/main">
              <a:ext uri="{FF2B5EF4-FFF2-40B4-BE49-F238E27FC236}">
                <a16:creationId xmlns:a16="http://schemas.microsoft.com/office/drawing/2014/main" id="{BD498690-0F4A-4AA9-83D4-D74B1F6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8" name="Shape 3">
            <a:extLst xmlns:a="http://schemas.openxmlformats.org/drawingml/2006/main">
              <a:ext uri="{FF2B5EF4-FFF2-40B4-BE49-F238E27FC236}">
                <a16:creationId xmlns:a16="http://schemas.microsoft.com/office/drawing/2014/main" id="{51C5E3FE-34FF-4A6B-953B-225D2618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9" name="Shape 4">
            <a:extLst xmlns:a="http://schemas.openxmlformats.org/drawingml/2006/main">
              <a:ext uri="{FF2B5EF4-FFF2-40B4-BE49-F238E27FC236}">
                <a16:creationId xmlns:a16="http://schemas.microsoft.com/office/drawing/2014/main" id="{85B388C1-6AA2-4E5C-A3DF-7F409FF9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0" name="Shape 5">
            <a:extLst xmlns:a="http://schemas.openxmlformats.org/drawingml/2006/main">
              <a:ext uri="{FF2B5EF4-FFF2-40B4-BE49-F238E27FC236}">
                <a16:creationId xmlns:a16="http://schemas.microsoft.com/office/drawing/2014/main" id="{D5BAFF73-7C46-4F71-8A44-AD5A6FFF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1" name="Shape 6">
            <a:extLst xmlns:a="http://schemas.openxmlformats.org/drawingml/2006/main">
              <a:ext uri="{FF2B5EF4-FFF2-40B4-BE49-F238E27FC236}">
                <a16:creationId xmlns:a16="http://schemas.microsoft.com/office/drawing/2014/main" id="{77D7BFA9-05A5-42BE-96BB-0F14CE21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2" name="Shape 7">
            <a:extLst xmlns:a="http://schemas.openxmlformats.org/drawingml/2006/main">
              <a:ext uri="{FF2B5EF4-FFF2-40B4-BE49-F238E27FC236}">
                <a16:creationId xmlns:a16="http://schemas.microsoft.com/office/drawing/2014/main" id="{0A29FC7F-C205-4F1A-A651-59A957E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3" name="Shape 8">
            <a:extLst xmlns:a="http://schemas.openxmlformats.org/drawingml/2006/main">
              <a:ext uri="{FF2B5EF4-FFF2-40B4-BE49-F238E27FC236}">
                <a16:creationId xmlns:a16="http://schemas.microsoft.com/office/drawing/2014/main" id="{B27F4D95-352B-4FDE-A4FF-605684EA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4" name="Shape 9">
            <a:extLst xmlns:a="http://schemas.openxmlformats.org/drawingml/2006/main">
              <a:ext uri="{FF2B5EF4-FFF2-40B4-BE49-F238E27FC236}">
                <a16:creationId xmlns:a16="http://schemas.microsoft.com/office/drawing/2014/main" id="{667D2778-74A9-499F-AA19-9C31101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5" name="Shape 10">
            <a:extLst xmlns:a="http://schemas.openxmlformats.org/drawingml/2006/main">
              <a:ext uri="{FF2B5EF4-FFF2-40B4-BE49-F238E27FC236}">
                <a16:creationId xmlns:a16="http://schemas.microsoft.com/office/drawing/2014/main" id="{BFB8C0E4-4846-4392-A0E3-9FFCE13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6" name="Shape 11">
            <a:extLst xmlns:a="http://schemas.openxmlformats.org/drawingml/2006/main">
              <a:ext uri="{FF2B5EF4-FFF2-40B4-BE49-F238E27FC236}">
                <a16:creationId xmlns:a16="http://schemas.microsoft.com/office/drawing/2014/main" id="{8A809448-AFB6-495F-96B6-7FE8474D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7" name="Shape 12">
            <a:extLst xmlns:a="http://schemas.openxmlformats.org/drawingml/2006/main">
              <a:ext uri="{FF2B5EF4-FFF2-40B4-BE49-F238E27FC236}">
                <a16:creationId xmlns:a16="http://schemas.microsoft.com/office/drawing/2014/main" id="{400DB9B4-E9E2-4575-B868-60DBA9FA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8" name="Shape 13">
            <a:extLst xmlns:a="http://schemas.openxmlformats.org/drawingml/2006/main">
              <a:ext uri="{FF2B5EF4-FFF2-40B4-BE49-F238E27FC236}">
                <a16:creationId xmlns:a16="http://schemas.microsoft.com/office/drawing/2014/main" id="{2B46C291-DB8E-4425-84C5-2D1043E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9" name="Shape 14">
            <a:extLst xmlns:a="http://schemas.openxmlformats.org/drawingml/2006/main">
              <a:ext uri="{FF2B5EF4-FFF2-40B4-BE49-F238E27FC236}">
                <a16:creationId xmlns:a16="http://schemas.microsoft.com/office/drawing/2014/main" id="{016720FA-9390-49FB-926B-C266687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0" name="Shape 15">
            <a:extLst xmlns:a="http://schemas.openxmlformats.org/drawingml/2006/main">
              <a:ext uri="{FF2B5EF4-FFF2-40B4-BE49-F238E27FC236}">
                <a16:creationId xmlns:a16="http://schemas.microsoft.com/office/drawing/2014/main" id="{C2C596FE-752E-463C-B810-39D8B2DA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1" name="Shape 16">
            <a:extLst xmlns:a="http://schemas.openxmlformats.org/drawingml/2006/main">
              <a:ext uri="{FF2B5EF4-FFF2-40B4-BE49-F238E27FC236}">
                <a16:creationId xmlns:a16="http://schemas.microsoft.com/office/drawing/2014/main" id="{FF665AF9-B36D-4741-BC4D-40F90BC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2" name="Shape 17">
            <a:extLst xmlns:a="http://schemas.openxmlformats.org/drawingml/2006/main">
              <a:ext uri="{FF2B5EF4-FFF2-40B4-BE49-F238E27FC236}">
                <a16:creationId xmlns:a16="http://schemas.microsoft.com/office/drawing/2014/main" id="{06CA4337-41CA-4E82-A51D-67E35A7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3" name="Shape 18">
            <a:extLst xmlns:a="http://schemas.openxmlformats.org/drawingml/2006/main">
              <a:ext uri="{FF2B5EF4-FFF2-40B4-BE49-F238E27FC236}">
                <a16:creationId xmlns:a16="http://schemas.microsoft.com/office/drawing/2014/main" id="{73B339BB-433E-4F24-8C18-EEF1D797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4" name="Shape 19">
            <a:extLst xmlns:a="http://schemas.openxmlformats.org/drawingml/2006/main">
              <a:ext uri="{FF2B5EF4-FFF2-40B4-BE49-F238E27FC236}">
                <a16:creationId xmlns:a16="http://schemas.microsoft.com/office/drawing/2014/main" id="{E8008EC8-F6F2-4286-A0DB-EBEA043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5" name="Shape 20">
            <a:extLst xmlns:a="http://schemas.openxmlformats.org/drawingml/2006/main">
              <a:ext uri="{FF2B5EF4-FFF2-40B4-BE49-F238E27FC236}">
                <a16:creationId xmlns:a16="http://schemas.microsoft.com/office/drawing/2014/main" id="{A3D11AA3-05B0-4B31-B7D7-D92B4E55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FBA39F-4F48-488B-8990-CABE351C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7" name="Shape 22">
            <a:extLst xmlns:a="http://schemas.openxmlformats.org/drawingml/2006/main">
              <a:ext uri="{FF2B5EF4-FFF2-40B4-BE49-F238E27FC236}">
                <a16:creationId xmlns:a16="http://schemas.microsoft.com/office/drawing/2014/main" id="{6186D42B-50A5-4D0B-9D54-80ABC745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8" name="Shape 23">
            <a:extLst xmlns:a="http://schemas.openxmlformats.org/drawingml/2006/main">
              <a:ext uri="{FF2B5EF4-FFF2-40B4-BE49-F238E27FC236}">
                <a16:creationId xmlns:a16="http://schemas.microsoft.com/office/drawing/2014/main" id="{6E762B07-3B75-493A-95EC-6C8AF04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9" name="Shape 24">
            <a:extLst xmlns:a="http://schemas.openxmlformats.org/drawingml/2006/main">
              <a:ext uri="{FF2B5EF4-FFF2-40B4-BE49-F238E27FC236}">
                <a16:creationId xmlns:a16="http://schemas.microsoft.com/office/drawing/2014/main" id="{1903DA79-1E82-4447-B9CB-EC7581E5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0" name="Shape 25">
            <a:extLst xmlns:a="http://schemas.openxmlformats.org/drawingml/2006/main">
              <a:ext uri="{FF2B5EF4-FFF2-40B4-BE49-F238E27FC236}">
                <a16:creationId xmlns:a16="http://schemas.microsoft.com/office/drawing/2014/main" id="{543DC64F-6CA4-4EDC-8D0F-4CC29663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1" name="Shape 26">
            <a:extLst xmlns:a="http://schemas.openxmlformats.org/drawingml/2006/main">
              <a:ext uri="{FF2B5EF4-FFF2-40B4-BE49-F238E27FC236}">
                <a16:creationId xmlns:a16="http://schemas.microsoft.com/office/drawing/2014/main" id="{3EF72346-14E2-42E3-BB3C-CBDCC81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2" name="Shape 27">
            <a:extLst xmlns:a="http://schemas.openxmlformats.org/drawingml/2006/main">
              <a:ext uri="{FF2B5EF4-FFF2-40B4-BE49-F238E27FC236}">
                <a16:creationId xmlns:a16="http://schemas.microsoft.com/office/drawing/2014/main" id="{C196B251-1DF3-491E-BFE3-7349DC9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3" name="Text 28">
            <a:extLst xmlns:a="http://schemas.openxmlformats.org/drawingml/2006/main">
              <a:ext uri="{FF2B5EF4-FFF2-40B4-BE49-F238E27FC236}">
                <a16:creationId xmlns:a16="http://schemas.microsoft.com/office/drawing/2014/main" id="{B42B6B20-66D3-4AFF-8301-34CBA4CA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 spc="30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THE METHOD</a:t>
            </a:r>
          </a:p>
        </p:txBody>
      </p:sp>
      <p:sp>
        <p:nvSpPr>
          <p:cNvPr id="274" name="Text 29">
            <a:extLst xmlns:a="http://schemas.openxmlformats.org/drawingml/2006/main">
              <a:ext uri="{FF2B5EF4-FFF2-40B4-BE49-F238E27FC236}">
                <a16:creationId xmlns:a16="http://schemas.microsoft.com/office/drawing/2014/main" id="{1B8E548A-4395-47AC-BBBE-94CE436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Four stages separate description from inference</a:t>
            </a:r>
          </a:p>
        </p:txBody>
      </p:sp>
      <p:sp>
        <p:nvSpPr>
          <p:cNvPr id="275" name="Shape 30">
            <a:extLst xmlns:a="http://schemas.openxmlformats.org/drawingml/2006/main">
              <a:ext uri="{FF2B5EF4-FFF2-40B4-BE49-F238E27FC236}">
                <a16:creationId xmlns:a16="http://schemas.microsoft.com/office/drawing/2014/main" id="{01810FC5-24E6-4BF3-BF59-8FF5531D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69400" cy="287964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6" name="Shape 31">
            <a:extLst xmlns:a="http://schemas.openxmlformats.org/drawingml/2006/main">
              <a:ext uri="{FF2B5EF4-FFF2-40B4-BE49-F238E27FC236}">
                <a16:creationId xmlns:a16="http://schemas.microsoft.com/office/drawing/2014/main" id="{68B006B5-23DF-4A0C-9F09-60FB4D4F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21945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7" name="Text 32">
            <a:extLst xmlns:a="http://schemas.openxmlformats.org/drawingml/2006/main">
              <a:ext uri="{FF2B5EF4-FFF2-40B4-BE49-F238E27FC236}">
                <a16:creationId xmlns:a16="http://schemas.microsoft.com/office/drawing/2014/main" id="{140E79C7-D0BD-4615-B653-E3FB23C6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21945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8" name="Text 33">
            <a:extLst xmlns:a="http://schemas.openxmlformats.org/drawingml/2006/main">
              <a:ext uri="{FF2B5EF4-FFF2-40B4-BE49-F238E27FC236}">
                <a16:creationId xmlns:a16="http://schemas.microsoft.com/office/drawing/2014/main" id="{8C77651B-D369-4AD0-ADFC-146E32F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2834640"/>
            <a:ext cx="21571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Align</a:t>
            </a:r>
          </a:p>
        </p:txBody>
      </p:sp>
      <p:sp>
        <p:nvSpPr>
          <p:cNvPr id="279" name="Text 34">
            <a:extLst xmlns:a="http://schemas.openxmlformats.org/drawingml/2006/main">
              <a:ext uri="{FF2B5EF4-FFF2-40B4-BE49-F238E27FC236}">
                <a16:creationId xmlns:a16="http://schemas.microsoft.com/office/drawing/2014/main" id="{123BDF24-14E5-402B-9466-FFAD770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291840"/>
            <a:ext cx="2157120" cy="137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Align five maps and the derived mapped mare-proxy mask on one equal-area lunar grid.</a:t>
            </a:r>
          </a:p>
        </p:txBody>
      </p:sp>
      <p:sp>
        <p:nvSpPr>
          <p:cNvPr id="280" name="Text 35">
            <a:extLst xmlns:a="http://schemas.openxmlformats.org/drawingml/2006/main">
              <a:ext uri="{FF2B5EF4-FFF2-40B4-BE49-F238E27FC236}">
                <a16:creationId xmlns:a16="http://schemas.microsoft.com/office/drawing/2014/main" id="{F734B217-DA30-40BB-AA80-C8089EB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7360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 u="none">
                <a:solidFill>
                  <a:srgbClr val="2E3B66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1" name="Shape 36">
            <a:extLst xmlns:a="http://schemas.openxmlformats.org/drawingml/2006/main">
              <a:ext uri="{FF2B5EF4-FFF2-40B4-BE49-F238E27FC236}">
                <a16:creationId xmlns:a16="http://schemas.microsoft.com/office/drawing/2014/main" id="{77AF1A15-A031-4BB7-AA2A-1544F29B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1920240"/>
            <a:ext cx="2669400" cy="287964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2" name="Shape 37">
            <a:extLst xmlns:a="http://schemas.openxmlformats.org/drawingml/2006/main">
              <a:ext uri="{FF2B5EF4-FFF2-40B4-BE49-F238E27FC236}">
                <a16:creationId xmlns:a16="http://schemas.microsoft.com/office/drawing/2014/main" id="{1E46011E-F718-4C94-9EC8-3273904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760" y="21945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3" name="Text 38">
            <a:extLst xmlns:a="http://schemas.openxmlformats.org/drawingml/2006/main">
              <a:ext uri="{FF2B5EF4-FFF2-40B4-BE49-F238E27FC236}">
                <a16:creationId xmlns:a16="http://schemas.microsoft.com/office/drawing/2014/main" id="{F47CE591-56FC-4092-99CA-2B5AB9E7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760" y="21945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84" name="Text 39">
            <a:extLst xmlns:a="http://schemas.openxmlformats.org/drawingml/2006/main">
              <a:ext uri="{FF2B5EF4-FFF2-40B4-BE49-F238E27FC236}">
                <a16:creationId xmlns:a16="http://schemas.microsoft.com/office/drawing/2014/main" id="{680FB973-A623-429C-81D9-F09CFBEF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760" y="2834640"/>
            <a:ext cx="21571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Describe</a:t>
            </a:r>
          </a:p>
        </p:txBody>
      </p:sp>
      <p:sp>
        <p:nvSpPr>
          <p:cNvPr id="285" name="Text 40">
            <a:extLst xmlns:a="http://schemas.openxmlformats.org/drawingml/2006/main">
              <a:ext uri="{FF2B5EF4-FFF2-40B4-BE49-F238E27FC236}">
                <a16:creationId xmlns:a16="http://schemas.microsoft.com/office/drawing/2014/main" id="{658DAA8D-BB3F-4AAF-9721-CE155BD9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760" y="3291840"/>
            <a:ext cx="2157120" cy="137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Fit continuous amplitude with controls, then add Ti features: raw + 25/50/100 km.</a:t>
            </a:r>
          </a:p>
        </p:txBody>
      </p:sp>
      <p:sp>
        <p:nvSpPr>
          <p:cNvPr id="286" name="Text 41">
            <a:extLst xmlns:a="http://schemas.openxmlformats.org/drawingml/2006/main">
              <a:ext uri="{FF2B5EF4-FFF2-40B4-BE49-F238E27FC236}">
                <a16:creationId xmlns:a16="http://schemas.microsoft.com/office/drawing/2014/main" id="{3AD7C56B-D9B6-4D48-9860-991F6B4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200" y="3017520"/>
            <a:ext cx="27360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 u="none">
                <a:solidFill>
                  <a:srgbClr val="2E3B66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7" name="Shape 42">
            <a:extLst xmlns:a="http://schemas.openxmlformats.org/drawingml/2006/main">
              <a:ext uri="{FF2B5EF4-FFF2-40B4-BE49-F238E27FC236}">
                <a16:creationId xmlns:a16="http://schemas.microsoft.com/office/drawing/2014/main" id="{B9FFD068-222A-40B9-9ADA-6839333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60" y="1920240"/>
            <a:ext cx="2669400" cy="287964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8" name="Shape 43">
            <a:extLst xmlns:a="http://schemas.openxmlformats.org/drawingml/2006/main">
              <a:ext uri="{FF2B5EF4-FFF2-40B4-BE49-F238E27FC236}">
                <a16:creationId xmlns:a16="http://schemas.microsoft.com/office/drawing/2014/main" id="{D3698875-B2C3-4FDA-B2FD-CFACC416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945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9" name="Text 44">
            <a:extLst xmlns:a="http://schemas.openxmlformats.org/drawingml/2006/main">
              <a:ext uri="{FF2B5EF4-FFF2-40B4-BE49-F238E27FC236}">
                <a16:creationId xmlns:a16="http://schemas.microsoft.com/office/drawing/2014/main" id="{A8323351-45D3-481A-8891-CC42A99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945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0" name="Text 45">
            <a:extLst xmlns:a="http://schemas.openxmlformats.org/drawingml/2006/main">
              <a:ext uri="{FF2B5EF4-FFF2-40B4-BE49-F238E27FC236}">
                <a16:creationId xmlns:a16="http://schemas.microsoft.com/office/drawing/2014/main" id="{65F7CFF7-057A-4D1B-AA81-CDAF7E3A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34640"/>
            <a:ext cx="21571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Restrict</a:t>
            </a:r>
          </a:p>
        </p:txBody>
      </p:sp>
      <p:sp>
        <p:nvSpPr>
          <p:cNvPr id="291" name="Text 46">
            <a:extLst xmlns:a="http://schemas.openxmlformats.org/drawingml/2006/main">
              <a:ext uri="{FF2B5EF4-FFF2-40B4-BE49-F238E27FC236}">
                <a16:creationId xmlns:a16="http://schemas.microsoft.com/office/drawing/2014/main" id="{CBFA5077-D4E5-4BF1-89B6-171ACAF8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91840"/>
            <a:ext cx="2157120" cy="137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Repeat controls vs. controls+raw-TiO₂ only inside the mapped USGS mare-proxy mask.</a:t>
            </a:r>
          </a:p>
        </p:txBody>
      </p:sp>
      <p:sp>
        <p:nvSpPr>
          <p:cNvPr id="292" name="Text 47">
            <a:extLst xmlns:a="http://schemas.openxmlformats.org/drawingml/2006/main">
              <a:ext uri="{FF2B5EF4-FFF2-40B4-BE49-F238E27FC236}">
                <a16:creationId xmlns:a16="http://schemas.microsoft.com/office/drawing/2014/main" id="{A3509BDB-2A57-4A52-B231-26A37BB9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20" y="3017520"/>
            <a:ext cx="27360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 u="none">
                <a:solidFill>
                  <a:srgbClr val="2E3B66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93" name="Shape 48">
            <a:extLst xmlns:a="http://schemas.openxmlformats.org/drawingml/2006/main">
              <a:ext uri="{FF2B5EF4-FFF2-40B4-BE49-F238E27FC236}">
                <a16:creationId xmlns:a16="http://schemas.microsoft.com/office/drawing/2014/main" id="{8CC2AF56-466A-41B4-A31C-DD584B0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20" y="1920240"/>
            <a:ext cx="2669400" cy="287964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4" name="Shape 49">
            <a:extLst xmlns:a="http://schemas.openxmlformats.org/drawingml/2006/main">
              <a:ext uri="{FF2B5EF4-FFF2-40B4-BE49-F238E27FC236}">
                <a16:creationId xmlns:a16="http://schemas.microsoft.com/office/drawing/2014/main" id="{70AE4D9C-8DA8-4E2B-A416-8D37BCD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80" y="219456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5" name="Text 50">
            <a:extLst xmlns:a="http://schemas.openxmlformats.org/drawingml/2006/main">
              <a:ext uri="{FF2B5EF4-FFF2-40B4-BE49-F238E27FC236}">
                <a16:creationId xmlns:a16="http://schemas.microsoft.com/office/drawing/2014/main" id="{E02F7BE7-08B9-47DA-AED1-6AF1FADA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80" y="2194560"/>
            <a:ext cx="4564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00" b="1" u="none">
                <a:solidFill>
                  <a:srgbClr val="0B102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96" name="Text 51">
            <a:extLst xmlns:a="http://schemas.openxmlformats.org/drawingml/2006/main">
              <a:ext uri="{FF2B5EF4-FFF2-40B4-BE49-F238E27FC236}">
                <a16:creationId xmlns:a16="http://schemas.microsoft.com/office/drawing/2014/main" id="{936C52BF-C432-4E71-B02B-77579158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80" y="2834640"/>
            <a:ext cx="21571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Calibrate</a:t>
            </a:r>
          </a:p>
        </p:txBody>
      </p:sp>
      <p:sp>
        <p:nvSpPr>
          <p:cNvPr id="297" name="Text 52">
            <a:extLst xmlns:a="http://schemas.openxmlformats.org/drawingml/2006/main">
              <a:ext uri="{FF2B5EF4-FFF2-40B4-BE49-F238E27FC236}">
                <a16:creationId xmlns:a16="http://schemas.microsoft.com/office/drawing/2014/main" id="{8570BA62-05EF-4983-9842-66F5480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80" y="3291840"/>
            <a:ext cx="2157120" cy="137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Match each statistic to its own spatial null, then inject H2 signals to measure power.</a:t>
            </a:r>
          </a:p>
        </p:txBody>
      </p:sp>
      <p:sp>
        <p:nvSpPr>
          <p:cNvPr id="298" name="Text 53">
            <a:extLst xmlns:a="http://schemas.openxmlformats.org/drawingml/2006/main">
              <a:ext uri="{FF2B5EF4-FFF2-40B4-BE49-F238E27FC236}">
                <a16:creationId xmlns:a16="http://schemas.microsoft.com/office/drawing/2014/main" id="{0E3A49F8-48B6-4454-838D-CED619D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880640" cy="109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5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Why blocking still falls short:  </a:t>
            </a:r>
            <a:r>
              <a:rPr sz="14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30° (~910 km) and 60° (~1819 km) holdouts remain below the ~3752 km dependence range. Both nulls used the first 100 eligible 5/5-fold unique nonidentity shifts from 125 candidates; 12 four-fold candidates were rejected. Accepted prevalence: .007686–.022767.</a:t>
            </a:r>
          </a:p>
        </p:txBody>
      </p:sp>
    </p:spTree>
    <p:extLst>
      <p:ext uri="{BB962C8B-B14F-4D97-AF65-F5344CB8AC3E}">
        <p14:creationId xmlns:p14="http://schemas.microsoft.com/office/powerpoint/2010/main" val="2046929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9" name="Shape 0">
            <a:extLst xmlns:a="http://schemas.openxmlformats.org/drawingml/2006/main">
              <a:ext uri="{FF2B5EF4-FFF2-40B4-BE49-F238E27FC236}">
                <a16:creationId xmlns:a16="http://schemas.microsoft.com/office/drawing/2014/main" id="{31C1AEC2-CA3F-4C9B-A747-99C426C4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0" name="Shape 1">
            <a:extLst xmlns:a="http://schemas.openxmlformats.org/drawingml/2006/main">
              <a:ext uri="{FF2B5EF4-FFF2-40B4-BE49-F238E27FC236}">
                <a16:creationId xmlns:a16="http://schemas.microsoft.com/office/drawing/2014/main" id="{D72FEB70-5B67-457A-889A-54530FC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1" name="Shape 2">
            <a:extLst xmlns:a="http://schemas.openxmlformats.org/drawingml/2006/main">
              <a:ext uri="{FF2B5EF4-FFF2-40B4-BE49-F238E27FC236}">
                <a16:creationId xmlns:a16="http://schemas.microsoft.com/office/drawing/2014/main" id="{59938121-24D0-4D37-893B-A3ABFFA6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2" name="Shape 3">
            <a:extLst xmlns:a="http://schemas.openxmlformats.org/drawingml/2006/main">
              <a:ext uri="{FF2B5EF4-FFF2-40B4-BE49-F238E27FC236}">
                <a16:creationId xmlns:a16="http://schemas.microsoft.com/office/drawing/2014/main" id="{3D629F55-EBC2-43C3-A185-E8F4F45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3" name="Shape 4">
            <a:extLst xmlns:a="http://schemas.openxmlformats.org/drawingml/2006/main">
              <a:ext uri="{FF2B5EF4-FFF2-40B4-BE49-F238E27FC236}">
                <a16:creationId xmlns:a16="http://schemas.microsoft.com/office/drawing/2014/main" id="{3311D11B-1F33-488D-9DE6-4A0FD2A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4" name="Shape 5">
            <a:extLst xmlns:a="http://schemas.openxmlformats.org/drawingml/2006/main">
              <a:ext uri="{FF2B5EF4-FFF2-40B4-BE49-F238E27FC236}">
                <a16:creationId xmlns:a16="http://schemas.microsoft.com/office/drawing/2014/main" id="{5C4C04E7-28D7-4FAA-9896-8134F021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5" name="Shape 6">
            <a:extLst xmlns:a="http://schemas.openxmlformats.org/drawingml/2006/main">
              <a:ext uri="{FF2B5EF4-FFF2-40B4-BE49-F238E27FC236}">
                <a16:creationId xmlns:a16="http://schemas.microsoft.com/office/drawing/2014/main" id="{F66ACBEB-561D-4770-BFF7-9DEB460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6" name="Shape 7">
            <a:extLst xmlns:a="http://schemas.openxmlformats.org/drawingml/2006/main">
              <a:ext uri="{FF2B5EF4-FFF2-40B4-BE49-F238E27FC236}">
                <a16:creationId xmlns:a16="http://schemas.microsoft.com/office/drawing/2014/main" id="{EF2869F3-69E0-4228-B933-DD7CBAF5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7" name="Shape 8">
            <a:extLst xmlns:a="http://schemas.openxmlformats.org/drawingml/2006/main">
              <a:ext uri="{FF2B5EF4-FFF2-40B4-BE49-F238E27FC236}">
                <a16:creationId xmlns:a16="http://schemas.microsoft.com/office/drawing/2014/main" id="{155DCF2D-30CC-45D0-BDC8-992869CB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8" name="Shape 9">
            <a:extLst xmlns:a="http://schemas.openxmlformats.org/drawingml/2006/main">
              <a:ext uri="{FF2B5EF4-FFF2-40B4-BE49-F238E27FC236}">
                <a16:creationId xmlns:a16="http://schemas.microsoft.com/office/drawing/2014/main" id="{11FAE270-25C3-4DA6-B404-4AD5A460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9" name="Shape 10">
            <a:extLst xmlns:a="http://schemas.openxmlformats.org/drawingml/2006/main">
              <a:ext uri="{FF2B5EF4-FFF2-40B4-BE49-F238E27FC236}">
                <a16:creationId xmlns:a16="http://schemas.microsoft.com/office/drawing/2014/main" id="{B7CC552B-3FC6-4789-B4B4-DB4DADF6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0" name="Shape 11">
            <a:extLst xmlns:a="http://schemas.openxmlformats.org/drawingml/2006/main">
              <a:ext uri="{FF2B5EF4-FFF2-40B4-BE49-F238E27FC236}">
                <a16:creationId xmlns:a16="http://schemas.microsoft.com/office/drawing/2014/main" id="{C530EB02-512A-4D47-9FFF-86E25ED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1" name="Shape 12">
            <a:extLst xmlns:a="http://schemas.openxmlformats.org/drawingml/2006/main">
              <a:ext uri="{FF2B5EF4-FFF2-40B4-BE49-F238E27FC236}">
                <a16:creationId xmlns:a16="http://schemas.microsoft.com/office/drawing/2014/main" id="{668E1CB5-9315-49FA-83F1-E682718F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2" name="Shape 13">
            <a:extLst xmlns:a="http://schemas.openxmlformats.org/drawingml/2006/main">
              <a:ext uri="{FF2B5EF4-FFF2-40B4-BE49-F238E27FC236}">
                <a16:creationId xmlns:a16="http://schemas.microsoft.com/office/drawing/2014/main" id="{76D14E04-6EFE-40E6-AD70-3FDD6FB8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3" name="Shape 14">
            <a:extLst xmlns:a="http://schemas.openxmlformats.org/drawingml/2006/main">
              <a:ext uri="{FF2B5EF4-FFF2-40B4-BE49-F238E27FC236}">
                <a16:creationId xmlns:a16="http://schemas.microsoft.com/office/drawing/2014/main" id="{5D7FCD02-F789-4FB7-9A8E-5377BF9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4" name="Shape 15">
            <a:extLst xmlns:a="http://schemas.openxmlformats.org/drawingml/2006/main">
              <a:ext uri="{FF2B5EF4-FFF2-40B4-BE49-F238E27FC236}">
                <a16:creationId xmlns:a16="http://schemas.microsoft.com/office/drawing/2014/main" id="{DC289881-6DBE-485A-9148-BC2F7B66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5" name="Shape 16">
            <a:extLst xmlns:a="http://schemas.openxmlformats.org/drawingml/2006/main">
              <a:ext uri="{FF2B5EF4-FFF2-40B4-BE49-F238E27FC236}">
                <a16:creationId xmlns:a16="http://schemas.microsoft.com/office/drawing/2014/main" id="{9112B42B-1276-465A-953E-05CA0068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6" name="Shape 17">
            <a:extLst xmlns:a="http://schemas.openxmlformats.org/drawingml/2006/main">
              <a:ext uri="{FF2B5EF4-FFF2-40B4-BE49-F238E27FC236}">
                <a16:creationId xmlns:a16="http://schemas.microsoft.com/office/drawing/2014/main" id="{667F9C76-373E-44CE-B5D9-3AFC523E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7" name="Shape 18">
            <a:extLst xmlns:a="http://schemas.openxmlformats.org/drawingml/2006/main">
              <a:ext uri="{FF2B5EF4-FFF2-40B4-BE49-F238E27FC236}">
                <a16:creationId xmlns:a16="http://schemas.microsoft.com/office/drawing/2014/main" id="{84076208-1908-40D1-9C96-B7D92987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8" name="Shape 19">
            <a:extLst xmlns:a="http://schemas.openxmlformats.org/drawingml/2006/main">
              <a:ext uri="{FF2B5EF4-FFF2-40B4-BE49-F238E27FC236}">
                <a16:creationId xmlns:a16="http://schemas.microsoft.com/office/drawing/2014/main" id="{405E1B70-D41E-41E9-88BE-7D3E2035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9" name="Shape 20">
            <a:extLst xmlns:a="http://schemas.openxmlformats.org/drawingml/2006/main">
              <a:ext uri="{FF2B5EF4-FFF2-40B4-BE49-F238E27FC236}">
                <a16:creationId xmlns:a16="http://schemas.microsoft.com/office/drawing/2014/main" id="{869376A0-83F6-4E0D-B158-E1A09B1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0" name="Shape 21">
            <a:extLst xmlns:a="http://schemas.openxmlformats.org/drawingml/2006/main">
              <a:ext uri="{FF2B5EF4-FFF2-40B4-BE49-F238E27FC236}">
                <a16:creationId xmlns:a16="http://schemas.microsoft.com/office/drawing/2014/main" id="{F4DAF343-23B8-4119-BD25-9FB2CAF8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1" name="Shape 22">
            <a:extLst xmlns:a="http://schemas.openxmlformats.org/drawingml/2006/main">
              <a:ext uri="{FF2B5EF4-FFF2-40B4-BE49-F238E27FC236}">
                <a16:creationId xmlns:a16="http://schemas.microsoft.com/office/drawing/2014/main" id="{97A42CB7-6E47-4858-ABE3-F2948050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2" name="Shape 23">
            <a:extLst xmlns:a="http://schemas.openxmlformats.org/drawingml/2006/main">
              <a:ext uri="{FF2B5EF4-FFF2-40B4-BE49-F238E27FC236}">
                <a16:creationId xmlns:a16="http://schemas.microsoft.com/office/drawing/2014/main" id="{EC5ACB30-A678-427E-B7B9-BC1897A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3" name="Shape 24">
            <a:extLst xmlns:a="http://schemas.openxmlformats.org/drawingml/2006/main">
              <a:ext uri="{FF2B5EF4-FFF2-40B4-BE49-F238E27FC236}">
                <a16:creationId xmlns:a16="http://schemas.microsoft.com/office/drawing/2014/main" id="{2DCA540E-5827-45CA-BDEA-5160209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4" name="Shape 25">
            <a:extLst xmlns:a="http://schemas.openxmlformats.org/drawingml/2006/main">
              <a:ext uri="{FF2B5EF4-FFF2-40B4-BE49-F238E27FC236}">
                <a16:creationId xmlns:a16="http://schemas.microsoft.com/office/drawing/2014/main" id="{041D8D26-879B-429B-9EA9-987605DF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5" name="Shape 26">
            <a:extLst xmlns:a="http://schemas.openxmlformats.org/drawingml/2006/main">
              <a:ext uri="{FF2B5EF4-FFF2-40B4-BE49-F238E27FC236}">
                <a16:creationId xmlns:a16="http://schemas.microsoft.com/office/drawing/2014/main" id="{12E70EF7-F05D-4291-B52A-FB59AEB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6" name="Shape 27">
            <a:extLst xmlns:a="http://schemas.openxmlformats.org/drawingml/2006/main">
              <a:ext uri="{FF2B5EF4-FFF2-40B4-BE49-F238E27FC236}">
                <a16:creationId xmlns:a16="http://schemas.microsoft.com/office/drawing/2014/main" id="{0A36C580-9DA3-431B-8F79-330B759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7" name="Text 28">
            <a:extLst xmlns:a="http://schemas.openxmlformats.org/drawingml/2006/main">
              <a:ext uri="{FF2B5EF4-FFF2-40B4-BE49-F238E27FC236}">
                <a16:creationId xmlns:a16="http://schemas.microsoft.com/office/drawing/2014/main" id="{1DC6EC1D-02A3-44C3-B04C-9005F42C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AUDITABILITY</a:t>
            </a:r>
          </a:p>
        </p:txBody>
      </p:sp>
      <p:sp>
        <p:nvSpPr>
          <p:cNvPr id="328" name="Text 29">
            <a:extLst xmlns:a="http://schemas.openxmlformats.org/drawingml/2006/main">
              <a:ext uri="{FF2B5EF4-FFF2-40B4-BE49-F238E27FC236}">
                <a16:creationId xmlns:a16="http://schemas.microsoft.com/office/drawing/2014/main" id="{5113C460-57E1-4F77-812C-842EB791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Reproducible evidence still has design limits</a:t>
            </a:r>
          </a:p>
        </p:txBody>
      </p:sp>
      <p:sp>
        <p:nvSpPr>
          <p:cNvPr id="329" name="Shape 30">
            <a:extLst xmlns:a="http://schemas.openxmlformats.org/drawingml/2006/main">
              <a:ext uri="{FF2B5EF4-FFF2-40B4-BE49-F238E27FC236}">
                <a16:creationId xmlns:a16="http://schemas.microsoft.com/office/drawing/2014/main" id="{5A1D5EB1-1BEF-44CD-AA84-66B2A507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257080" cy="178236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0" name="Shape 31">
            <a:extLst xmlns:a="http://schemas.openxmlformats.org/drawingml/2006/main">
              <a:ext uri="{FF2B5EF4-FFF2-40B4-BE49-F238E27FC236}">
                <a16:creationId xmlns:a16="http://schemas.microsoft.com/office/drawing/2014/main" id="{4114FB2C-4F47-4A00-9FD7-E5B661A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58640"/>
            <a:ext cx="218880" cy="21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1" name="Text 32">
            <a:extLst xmlns:a="http://schemas.openxmlformats.org/drawingml/2006/main">
              <a:ext uri="{FF2B5EF4-FFF2-40B4-BE49-F238E27FC236}">
                <a16:creationId xmlns:a16="http://schemas.microsoft.com/office/drawing/2014/main" id="{EB286CDD-1583-4825-8F9E-CA43824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48840"/>
            <a:ext cx="425124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Analysis plan and code</a:t>
            </a:r>
          </a:p>
        </p:txBody>
      </p:sp>
      <p:sp>
        <p:nvSpPr>
          <p:cNvPr id="332" name="Text 33">
            <a:extLst xmlns:a="http://schemas.openxmlformats.org/drawingml/2006/main">
              <a:ext uri="{FF2B5EF4-FFF2-40B4-BE49-F238E27FC236}">
                <a16:creationId xmlns:a16="http://schemas.microsoft.com/office/drawing/2014/main" id="{51CCA429-75C4-43C0-A635-04E1DF1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15840"/>
            <a:ext cx="46170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4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The plan and parameter file are version-controlled separately from the generated results.</a:t>
            </a:r>
          </a:p>
        </p:txBody>
      </p:sp>
      <p:sp>
        <p:nvSpPr>
          <p:cNvPr id="333" name="Shape 34">
            <a:extLst xmlns:a="http://schemas.openxmlformats.org/drawingml/2006/main">
              <a:ext uri="{FF2B5EF4-FFF2-40B4-BE49-F238E27FC236}">
                <a16:creationId xmlns:a16="http://schemas.microsoft.com/office/drawing/2014/main" id="{E1A94D83-86BF-413C-AEA8-7904CB9E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20"/>
            <a:ext cx="5257080" cy="178236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4" name="Shape 35">
            <a:extLst xmlns:a="http://schemas.openxmlformats.org/drawingml/2006/main">
              <a:ext uri="{FF2B5EF4-FFF2-40B4-BE49-F238E27FC236}">
                <a16:creationId xmlns:a16="http://schemas.microsoft.com/office/drawing/2014/main" id="{E747C7FF-3003-4E2E-953C-50978A4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58640"/>
            <a:ext cx="218880" cy="21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5" name="Text 36">
            <a:extLst xmlns:a="http://schemas.openxmlformats.org/drawingml/2006/main">
              <a:ext uri="{FF2B5EF4-FFF2-40B4-BE49-F238E27FC236}">
                <a16:creationId xmlns:a16="http://schemas.microsoft.com/office/drawing/2014/main" id="{FF8D844A-2EA9-4401-B779-6EEB8AE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425124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Logical-fallacy audit</a:t>
            </a:r>
          </a:p>
        </p:txBody>
      </p:sp>
      <p:sp>
        <p:nvSpPr>
          <p:cNvPr id="336" name="Text 37">
            <a:extLst xmlns:a="http://schemas.openxmlformats.org/drawingml/2006/main">
              <a:ext uri="{FF2B5EF4-FFF2-40B4-BE49-F238E27FC236}">
                <a16:creationId xmlns:a16="http://schemas.microsoft.com/office/drawing/2014/main" id="{235CB7A0-172F-4D25-A735-2677A855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15840"/>
            <a:ext cx="46170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4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Inference traps are documented and corrected in the open—including the matched H2 null.</a:t>
            </a:r>
          </a:p>
        </p:txBody>
      </p:sp>
      <p:sp>
        <p:nvSpPr>
          <p:cNvPr id="337" name="Shape 38">
            <a:extLst xmlns:a="http://schemas.openxmlformats.org/drawingml/2006/main">
              <a:ext uri="{FF2B5EF4-FFF2-40B4-BE49-F238E27FC236}">
                <a16:creationId xmlns:a16="http://schemas.microsoft.com/office/drawing/2014/main" id="{922EEDBF-F310-4A85-AC1B-1A904AA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5257080" cy="178236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8" name="Shape 39">
            <a:extLst xmlns:a="http://schemas.openxmlformats.org/drawingml/2006/main">
              <a:ext uri="{FF2B5EF4-FFF2-40B4-BE49-F238E27FC236}">
                <a16:creationId xmlns:a16="http://schemas.microsoft.com/office/drawing/2014/main" id="{EC1F7916-EFD2-4DBC-939B-9F6EDF7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61760"/>
            <a:ext cx="218880" cy="21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9" name="Text 40">
            <a:extLst xmlns:a="http://schemas.openxmlformats.org/drawingml/2006/main">
              <a:ext uri="{FF2B5EF4-FFF2-40B4-BE49-F238E27FC236}">
                <a16:creationId xmlns:a16="http://schemas.microsoft.com/office/drawing/2014/main" id="{A3517A56-9BA9-4AD6-8E4B-370F554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51960"/>
            <a:ext cx="425124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Fail-closed provenance</a:t>
            </a:r>
          </a:p>
        </p:txBody>
      </p:sp>
      <p:sp>
        <p:nvSpPr>
          <p:cNvPr id="340" name="Text 41">
            <a:extLst xmlns:a="http://schemas.openxmlformats.org/drawingml/2006/main">
              <a:ext uri="{FF2B5EF4-FFF2-40B4-BE49-F238E27FC236}">
                <a16:creationId xmlns:a16="http://schemas.microsoft.com/office/drawing/2014/main" id="{E9F17C08-6CF8-4971-9655-CA8F82DB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960"/>
            <a:ext cx="46170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4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Hashes, real/synthetic guards and mare-mask alignment are enforced in code.</a:t>
            </a:r>
          </a:p>
        </p:txBody>
      </p:sp>
      <p:sp>
        <p:nvSpPr>
          <p:cNvPr id="341" name="Shape 42">
            <a:extLst xmlns:a="http://schemas.openxmlformats.org/drawingml/2006/main">
              <a:ext uri="{FF2B5EF4-FFF2-40B4-BE49-F238E27FC236}">
                <a16:creationId xmlns:a16="http://schemas.microsoft.com/office/drawing/2014/main" id="{31585593-9802-4CFC-87F0-CF562BB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257080" cy="178236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2" name="Shape 43">
            <a:extLst xmlns:a="http://schemas.openxmlformats.org/drawingml/2006/main">
              <a:ext uri="{FF2B5EF4-FFF2-40B4-BE49-F238E27FC236}">
                <a16:creationId xmlns:a16="http://schemas.microsoft.com/office/drawing/2014/main" id="{93FF759B-3579-4C82-BCD2-EA035D76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361760"/>
            <a:ext cx="218880" cy="21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3" name="Text 44">
            <a:extLst xmlns:a="http://schemas.openxmlformats.org/drawingml/2006/main">
              <a:ext uri="{FF2B5EF4-FFF2-40B4-BE49-F238E27FC236}">
                <a16:creationId xmlns:a16="http://schemas.microsoft.com/office/drawing/2014/main" id="{92BF5DFF-68FD-499C-BA93-1DAD1137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51960"/>
            <a:ext cx="425124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344" name="Text 45">
            <a:extLst xmlns:a="http://schemas.openxmlformats.org/drawingml/2006/main">
              <a:ext uri="{FF2B5EF4-FFF2-40B4-BE49-F238E27FC236}">
                <a16:creationId xmlns:a16="http://schemas.microsoft.com/office/drawing/2014/main" id="{3795ABE3-9C40-43B3-8FD1-1184146F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18960"/>
            <a:ext cx="4617000" cy="7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40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Guards cover provenance, terrain validity, power gating and report claims.</a:t>
            </a:r>
          </a:p>
        </p:txBody>
      </p:sp>
    </p:spTree>
    <p:extLst>
      <p:ext uri="{BB962C8B-B14F-4D97-AF65-F5344CB8AC3E}">
        <p14:creationId xmlns:p14="http://schemas.microsoft.com/office/powerpoint/2010/main" val="1363770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Shape 0">
            <a:extLst xmlns:a="http://schemas.openxmlformats.org/drawingml/2006/main">
              <a:ext uri="{FF2B5EF4-FFF2-40B4-BE49-F238E27FC236}">
                <a16:creationId xmlns:a16="http://schemas.microsoft.com/office/drawing/2014/main" id="{47597C1B-F60A-47A7-83CD-7CFD91F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6" name="Shape 1">
            <a:extLst xmlns:a="http://schemas.openxmlformats.org/drawingml/2006/main">
              <a:ext uri="{FF2B5EF4-FFF2-40B4-BE49-F238E27FC236}">
                <a16:creationId xmlns:a16="http://schemas.microsoft.com/office/drawing/2014/main" id="{F154642B-D09A-465B-BCDC-4E8FE05D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7" name="Shape 2">
            <a:extLst xmlns:a="http://schemas.openxmlformats.org/drawingml/2006/main">
              <a:ext uri="{FF2B5EF4-FFF2-40B4-BE49-F238E27FC236}">
                <a16:creationId xmlns:a16="http://schemas.microsoft.com/office/drawing/2014/main" id="{7961AD02-4BB0-4D53-BA06-EDBF7D7F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8" name="Shape 3">
            <a:extLst xmlns:a="http://schemas.openxmlformats.org/drawingml/2006/main">
              <a:ext uri="{FF2B5EF4-FFF2-40B4-BE49-F238E27FC236}">
                <a16:creationId xmlns:a16="http://schemas.microsoft.com/office/drawing/2014/main" id="{35407718-25AA-40EF-BC61-C11A064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F25DF469-7F94-46E5-9B56-7E7962E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2387444-D96D-4E87-999C-AD810ADC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1" name="Shape 6">
            <a:extLst xmlns:a="http://schemas.openxmlformats.org/drawingml/2006/main">
              <a:ext uri="{FF2B5EF4-FFF2-40B4-BE49-F238E27FC236}">
                <a16:creationId xmlns:a16="http://schemas.microsoft.com/office/drawing/2014/main" id="{11BF6CE2-733D-4686-AB1F-EA6743EC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2" name="Shape 7">
            <a:extLst xmlns:a="http://schemas.openxmlformats.org/drawingml/2006/main">
              <a:ext uri="{FF2B5EF4-FFF2-40B4-BE49-F238E27FC236}">
                <a16:creationId xmlns:a16="http://schemas.microsoft.com/office/drawing/2014/main" id="{CD7484C1-3190-4F12-A797-4B212738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6793FB4-1EE8-49C3-9433-E4EC16F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8F8C2CE8-C0B5-48D9-AAC7-9B407CB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5" name="Shape 10">
            <a:extLst xmlns:a="http://schemas.openxmlformats.org/drawingml/2006/main">
              <a:ext uri="{FF2B5EF4-FFF2-40B4-BE49-F238E27FC236}">
                <a16:creationId xmlns:a16="http://schemas.microsoft.com/office/drawing/2014/main" id="{647C9F3B-1012-4514-AA84-95024A6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6" name="Shape 11">
            <a:extLst xmlns:a="http://schemas.openxmlformats.org/drawingml/2006/main">
              <a:ext uri="{FF2B5EF4-FFF2-40B4-BE49-F238E27FC236}">
                <a16:creationId xmlns:a16="http://schemas.microsoft.com/office/drawing/2014/main" id="{090C2A86-D589-4516-A300-A03DF10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CE2B5A40-4696-484C-8642-FF01725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01CABC70-21AD-415B-94DE-3CCDD3E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9" name="Shape 14">
            <a:extLst xmlns:a="http://schemas.openxmlformats.org/drawingml/2006/main">
              <a:ext uri="{FF2B5EF4-FFF2-40B4-BE49-F238E27FC236}">
                <a16:creationId xmlns:a16="http://schemas.microsoft.com/office/drawing/2014/main" id="{77728A5B-A64B-4297-BA5C-341C86BE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0" name="Shape 15">
            <a:extLst xmlns:a="http://schemas.openxmlformats.org/drawingml/2006/main">
              <a:ext uri="{FF2B5EF4-FFF2-40B4-BE49-F238E27FC236}">
                <a16:creationId xmlns:a16="http://schemas.microsoft.com/office/drawing/2014/main" id="{D419CA57-F6B8-4081-BF22-A9B78286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AF290628-E627-44A4-BE95-EF9B9379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F06CC648-FEB5-4054-BC2E-294C569D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3" name="Shape 18">
            <a:extLst xmlns:a="http://schemas.openxmlformats.org/drawingml/2006/main">
              <a:ext uri="{FF2B5EF4-FFF2-40B4-BE49-F238E27FC236}">
                <a16:creationId xmlns:a16="http://schemas.microsoft.com/office/drawing/2014/main" id="{8B1F0505-D983-415A-951D-656565D1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4" name="Shape 19">
            <a:extLst xmlns:a="http://schemas.openxmlformats.org/drawingml/2006/main">
              <a:ext uri="{FF2B5EF4-FFF2-40B4-BE49-F238E27FC236}">
                <a16:creationId xmlns:a16="http://schemas.microsoft.com/office/drawing/2014/main" id="{B683949C-7F7C-4774-871D-D9FE6623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570515A7-0DF7-460D-934D-60F7085C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189430FC-30F5-4563-802B-EA45128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7" name="Shape 22">
            <a:extLst xmlns:a="http://schemas.openxmlformats.org/drawingml/2006/main">
              <a:ext uri="{FF2B5EF4-FFF2-40B4-BE49-F238E27FC236}">
                <a16:creationId xmlns:a16="http://schemas.microsoft.com/office/drawing/2014/main" id="{A803374A-8753-4466-A011-79B99FE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8" name="Shape 23">
            <a:extLst xmlns:a="http://schemas.openxmlformats.org/drawingml/2006/main">
              <a:ext uri="{FF2B5EF4-FFF2-40B4-BE49-F238E27FC236}">
                <a16:creationId xmlns:a16="http://schemas.microsoft.com/office/drawing/2014/main" id="{9230AE3F-04F7-476F-81C8-D6F80B7C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9" name="Shape 24">
            <a:extLst xmlns:a="http://schemas.openxmlformats.org/drawingml/2006/main">
              <a:ext uri="{FF2B5EF4-FFF2-40B4-BE49-F238E27FC236}">
                <a16:creationId xmlns:a16="http://schemas.microsoft.com/office/drawing/2014/main" id="{09A84D33-0F6B-4F20-BDA1-C7230A69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FE7F75CF-3D27-4EE1-A6CF-4C00751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68A53892-803F-4AD3-A609-98996FEB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2" name="Shape 27">
            <a:extLst xmlns:a="http://schemas.openxmlformats.org/drawingml/2006/main">
              <a:ext uri="{FF2B5EF4-FFF2-40B4-BE49-F238E27FC236}">
                <a16:creationId xmlns:a16="http://schemas.microsoft.com/office/drawing/2014/main" id="{7F64248B-7549-4CDC-B879-59AA1BC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3" name="Text 28">
            <a:extLst xmlns:a="http://schemas.openxmlformats.org/drawingml/2006/main">
              <a:ext uri="{FF2B5EF4-FFF2-40B4-BE49-F238E27FC236}">
                <a16:creationId xmlns:a16="http://schemas.microsoft.com/office/drawing/2014/main" id="{BC82DED0-BEBF-49FB-A8F6-3AEACB47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 spc="30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THE RESULT</a:t>
            </a:r>
          </a:p>
        </p:txBody>
      </p:sp>
      <p:sp>
        <p:nvSpPr>
          <p:cNvPr id="374" name="Text 29">
            <a:extLst xmlns:a="http://schemas.openxmlformats.org/drawingml/2006/main">
              <a:ext uri="{FF2B5EF4-FFF2-40B4-BE49-F238E27FC236}">
                <a16:creationId xmlns:a16="http://schemas.microsoft.com/office/drawing/2014/main" id="{8B36EADF-52C1-4D5C-BB3F-665C452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The full Ti family adds only a small descriptive increment</a:t>
            </a:r>
          </a:p>
        </p:txBody>
      </p:sp>
      <p:sp>
        <p:nvSpPr>
          <p:cNvPr id="375" name="Shape 30">
            <a:extLst xmlns:a="http://schemas.openxmlformats.org/drawingml/2006/main">
              <a:ext uri="{FF2B5EF4-FFF2-40B4-BE49-F238E27FC236}">
                <a16:creationId xmlns:a16="http://schemas.microsoft.com/office/drawing/2014/main" id="{D240B825-243E-47E2-BD9F-6C87AA7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5851440" cy="397692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6" name="Text 31">
            <a:extLst xmlns:a="http://schemas.openxmlformats.org/drawingml/2006/main">
              <a:ext uri="{FF2B5EF4-FFF2-40B4-BE49-F238E27FC236}">
                <a16:creationId xmlns:a16="http://schemas.microsoft.com/office/drawing/2014/main" id="{CA4722C1-C803-4EC2-8CC3-0C4B0D21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0240"/>
            <a:ext cx="539424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Held-out continuous R² (descriptive)</a:t>
            </a:r>
          </a:p>
        </p:txBody>
      </p:sp>
      <p:graphicFrame>
        <p:nvGraphicFramePr>
          <p:cNvPr id="423" name="Chart 0"/>
          <p:cNvGraphicFramePr/>
          <p:nvPr/>
        </p:nvGraphicFramePr>
        <p:xfrm>
          <a:off xmlns:a="http://schemas.openxmlformats.org/drawingml/2006/main" x="777240" y="2286000"/>
          <a:ext xmlns:a="http://schemas.openxmlformats.org/drawingml/2006/main" cx="5577120" cy="3291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363c8ba0a741ba"/>
          </a:graphicData>
        </a:graphic>
      </p:graphicFrame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57CF73F4-8C57-4D8C-95BE-E5F5AFB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83080"/>
            <a:ext cx="4799880" cy="89532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9E6F6E81-A12C-4499-B41F-F630210C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92880"/>
            <a:ext cx="2102400" cy="65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ΔR² +.0121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EB5B0D35-3AD5-4906-9CDC-4D0A728D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92880"/>
            <a:ext cx="2148120" cy="67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controls .2590 → .2712 with full Ti family; descriptive only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805B72B-A579-4F60-BB98-7BA30967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88920"/>
            <a:ext cx="4799880" cy="89532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2" name="Text 36">
            <a:extLst xmlns:a="http://schemas.openxmlformats.org/drawingml/2006/main">
              <a:ext uri="{FF2B5EF4-FFF2-40B4-BE49-F238E27FC236}">
                <a16:creationId xmlns:a16="http://schemas.microsoft.com/office/drawing/2014/main" id="{481C4497-10FC-4872-A8EF-19E3D6AC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898720"/>
            <a:ext cx="2102400" cy="65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ΔPR-AUC −.002992</a:t>
            </a:r>
          </a:p>
        </p:txBody>
      </p:sp>
      <p:sp>
        <p:nvSpPr>
          <p:cNvPr id="383" name="Text 37">
            <a:extLst xmlns:a="http://schemas.openxmlformats.org/drawingml/2006/main">
              <a:ext uri="{FF2B5EF4-FFF2-40B4-BE49-F238E27FC236}">
                <a16:creationId xmlns:a16="http://schemas.microsoft.com/office/drawing/2014/main" id="{EB53E5E8-5E20-44FE-B971-DE1EB5EA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8720"/>
            <a:ext cx="2148120" cy="67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remove raw/buffered Ti + Ti×gravity interactions; p=.78125</a:t>
            </a: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D141B71A-037F-42DF-865B-1CCAF66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94760"/>
            <a:ext cx="4799880" cy="89532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72AB70A2-FD8C-426D-8074-C7A6EADF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904560"/>
            <a:ext cx="2102400" cy="65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n_eff ≈ 1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1D9D51CE-FB61-4191-8CC8-2E638FE7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4560"/>
            <a:ext cx="2148120" cy="67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30° 910 km holdout &lt; 3752 km dependence range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BD4528F8-0541-4590-B8DD-E988EBDB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818960"/>
            <a:ext cx="4799880" cy="105084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A1B24"/>
          </a:solidFill>
          <a:ln xmlns:a="http://schemas.openxmlformats.org/drawingml/2006/main" w="12700">
            <a:solidFill>
              <a:srgbClr val="E8795E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8" name="Text 42">
            <a:extLst xmlns:a="http://schemas.openxmlformats.org/drawingml/2006/main">
              <a:ext uri="{FF2B5EF4-FFF2-40B4-BE49-F238E27FC236}">
                <a16:creationId xmlns:a16="http://schemas.microsoft.com/office/drawing/2014/main" id="{3D89F1F1-0611-4766-8717-56B45929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946760"/>
            <a:ext cx="425124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STATUS:  </a:t>
            </a:r>
            <a:r>
              <a:rPr sz="1800" b="1" u="none">
                <a:solidFill>
                  <a:srgbClr val="E8795E"/>
                </a:solidFill>
                <a:latin typeface="Calibri"/>
                <a:ea typeface="Calibri"/>
                <a:cs typeface="Calibri"/>
              </a:rPr>
              <a:t>INCONCLUSIVE_LOW_POWER</a:t>
            </a:r>
          </a:p>
        </p:txBody>
      </p:sp>
      <p:sp>
        <p:nvSpPr>
          <p:cNvPr id="389" name="Text 43">
            <a:extLst xmlns:a="http://schemas.openxmlformats.org/drawingml/2006/main">
              <a:ext uri="{FF2B5EF4-FFF2-40B4-BE49-F238E27FC236}">
                <a16:creationId xmlns:a16="http://schemas.microsoft.com/office/drawing/2014/main" id="{AFD4CC96-54D2-4638-8EA1-A0A1A26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367600"/>
            <a:ext cx="425124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i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This spatial proxy result neither confirms nor refutes Nichols et al.'s temporal mechanism.</a:t>
            </a:r>
          </a:p>
        </p:txBody>
      </p:sp>
    </p:spTree>
    <p:extLst>
      <p:ext uri="{BB962C8B-B14F-4D97-AF65-F5344CB8AC3E}">
        <p14:creationId xmlns:p14="http://schemas.microsoft.com/office/powerpoint/2010/main" val="1583478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Shape 0">
            <a:extLst xmlns:a="http://schemas.openxmlformats.org/drawingml/2006/main">
              <a:ext uri="{FF2B5EF4-FFF2-40B4-BE49-F238E27FC236}">
                <a16:creationId xmlns:a16="http://schemas.microsoft.com/office/drawing/2014/main" id="{B514E457-E824-4DC1-B3B7-F411025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1" name="Shape 1">
            <a:extLst xmlns:a="http://schemas.openxmlformats.org/drawingml/2006/main">
              <a:ext uri="{FF2B5EF4-FFF2-40B4-BE49-F238E27FC236}">
                <a16:creationId xmlns:a16="http://schemas.microsoft.com/office/drawing/2014/main" id="{A066E4F9-A6A9-4258-A020-BD560E6A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2" name="Shape 2">
            <a:extLst xmlns:a="http://schemas.openxmlformats.org/drawingml/2006/main">
              <a:ext uri="{FF2B5EF4-FFF2-40B4-BE49-F238E27FC236}">
                <a16:creationId xmlns:a16="http://schemas.microsoft.com/office/drawing/2014/main" id="{6E0503B3-060E-44F7-A4D2-AA3A709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3" name="Shape 3">
            <a:extLst xmlns:a="http://schemas.openxmlformats.org/drawingml/2006/main">
              <a:ext uri="{FF2B5EF4-FFF2-40B4-BE49-F238E27FC236}">
                <a16:creationId xmlns:a16="http://schemas.microsoft.com/office/drawing/2014/main" id="{CE296E31-D0A1-49CA-BA01-16A0C88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4" name="Shape 4">
            <a:extLst xmlns:a="http://schemas.openxmlformats.org/drawingml/2006/main">
              <a:ext uri="{FF2B5EF4-FFF2-40B4-BE49-F238E27FC236}">
                <a16:creationId xmlns:a16="http://schemas.microsoft.com/office/drawing/2014/main" id="{491C7BA0-054E-4A42-A379-FD00F588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5" name="Shape 5">
            <a:extLst xmlns:a="http://schemas.openxmlformats.org/drawingml/2006/main">
              <a:ext uri="{FF2B5EF4-FFF2-40B4-BE49-F238E27FC236}">
                <a16:creationId xmlns:a16="http://schemas.microsoft.com/office/drawing/2014/main" id="{F8B3FA18-89DE-4B27-B6FE-10E25AF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6" name="Shape 6">
            <a:extLst xmlns:a="http://schemas.openxmlformats.org/drawingml/2006/main">
              <a:ext uri="{FF2B5EF4-FFF2-40B4-BE49-F238E27FC236}">
                <a16:creationId xmlns:a16="http://schemas.microsoft.com/office/drawing/2014/main" id="{4053098E-82FB-4426-BB93-B30138C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7" name="Shape 7">
            <a:extLst xmlns:a="http://schemas.openxmlformats.org/drawingml/2006/main">
              <a:ext uri="{FF2B5EF4-FFF2-40B4-BE49-F238E27FC236}">
                <a16:creationId xmlns:a16="http://schemas.microsoft.com/office/drawing/2014/main" id="{F3144DBA-F608-4CCD-B2CD-99645898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8" name="Shape 8">
            <a:extLst xmlns:a="http://schemas.openxmlformats.org/drawingml/2006/main">
              <a:ext uri="{FF2B5EF4-FFF2-40B4-BE49-F238E27FC236}">
                <a16:creationId xmlns:a16="http://schemas.microsoft.com/office/drawing/2014/main" id="{623DA0CC-7BFB-4ECF-9409-3831F312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9" name="Shape 9">
            <a:extLst xmlns:a="http://schemas.openxmlformats.org/drawingml/2006/main">
              <a:ext uri="{FF2B5EF4-FFF2-40B4-BE49-F238E27FC236}">
                <a16:creationId xmlns:a16="http://schemas.microsoft.com/office/drawing/2014/main" id="{BBB0BDEA-5923-4DA7-B4B8-DE366A4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0" name="Shape 10">
            <a:extLst xmlns:a="http://schemas.openxmlformats.org/drawingml/2006/main">
              <a:ext uri="{FF2B5EF4-FFF2-40B4-BE49-F238E27FC236}">
                <a16:creationId xmlns:a16="http://schemas.microsoft.com/office/drawing/2014/main" id="{1AC1EE80-79F6-41D6-B230-3F65021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1" name="Shape 11">
            <a:extLst xmlns:a="http://schemas.openxmlformats.org/drawingml/2006/main">
              <a:ext uri="{FF2B5EF4-FFF2-40B4-BE49-F238E27FC236}">
                <a16:creationId xmlns:a16="http://schemas.microsoft.com/office/drawing/2014/main" id="{85CF86A7-BE80-4CBA-AB14-F19D195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2" name="Shape 12">
            <a:extLst xmlns:a="http://schemas.openxmlformats.org/drawingml/2006/main">
              <a:ext uri="{FF2B5EF4-FFF2-40B4-BE49-F238E27FC236}">
                <a16:creationId xmlns:a16="http://schemas.microsoft.com/office/drawing/2014/main" id="{3F72594F-53CA-4499-89AA-1A8E4350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3" name="Shape 13">
            <a:extLst xmlns:a="http://schemas.openxmlformats.org/drawingml/2006/main">
              <a:ext uri="{FF2B5EF4-FFF2-40B4-BE49-F238E27FC236}">
                <a16:creationId xmlns:a16="http://schemas.microsoft.com/office/drawing/2014/main" id="{D1E7E4F0-5324-46BD-BD96-8E9CADA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4" name="Shape 14">
            <a:extLst xmlns:a="http://schemas.openxmlformats.org/drawingml/2006/main">
              <a:ext uri="{FF2B5EF4-FFF2-40B4-BE49-F238E27FC236}">
                <a16:creationId xmlns:a16="http://schemas.microsoft.com/office/drawing/2014/main" id="{749114D4-15C0-4C68-8F3B-A0835F0B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5" name="Shape 15">
            <a:extLst xmlns:a="http://schemas.openxmlformats.org/drawingml/2006/main">
              <a:ext uri="{FF2B5EF4-FFF2-40B4-BE49-F238E27FC236}">
                <a16:creationId xmlns:a16="http://schemas.microsoft.com/office/drawing/2014/main" id="{7D6021B1-DB58-4779-8E37-021FD32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6" name="Shape 16">
            <a:extLst xmlns:a="http://schemas.openxmlformats.org/drawingml/2006/main">
              <a:ext uri="{FF2B5EF4-FFF2-40B4-BE49-F238E27FC236}">
                <a16:creationId xmlns:a16="http://schemas.microsoft.com/office/drawing/2014/main" id="{29AC4662-131E-4ABC-9F4B-81BB912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7" name="Shape 17">
            <a:extLst xmlns:a="http://schemas.openxmlformats.org/drawingml/2006/main">
              <a:ext uri="{FF2B5EF4-FFF2-40B4-BE49-F238E27FC236}">
                <a16:creationId xmlns:a16="http://schemas.microsoft.com/office/drawing/2014/main" id="{4A22F7C8-2691-4C03-9CB6-8CDEDB4C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8" name="Shape 18">
            <a:extLst xmlns:a="http://schemas.openxmlformats.org/drawingml/2006/main">
              <a:ext uri="{FF2B5EF4-FFF2-40B4-BE49-F238E27FC236}">
                <a16:creationId xmlns:a16="http://schemas.microsoft.com/office/drawing/2014/main" id="{A2E9BDEF-37F9-4698-94E9-158BA351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9" name="Shape 19">
            <a:extLst xmlns:a="http://schemas.openxmlformats.org/drawingml/2006/main">
              <a:ext uri="{FF2B5EF4-FFF2-40B4-BE49-F238E27FC236}">
                <a16:creationId xmlns:a16="http://schemas.microsoft.com/office/drawing/2014/main" id="{5BF83A0D-27F0-46C2-B1DF-FCDDCC47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0" name="Shape 20">
            <a:extLst xmlns:a="http://schemas.openxmlformats.org/drawingml/2006/main">
              <a:ext uri="{FF2B5EF4-FFF2-40B4-BE49-F238E27FC236}">
                <a16:creationId xmlns:a16="http://schemas.microsoft.com/office/drawing/2014/main" id="{66C77E29-F312-4F2E-BA4D-1B5C992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1" name="Shape 21">
            <a:extLst xmlns:a="http://schemas.openxmlformats.org/drawingml/2006/main">
              <a:ext uri="{FF2B5EF4-FFF2-40B4-BE49-F238E27FC236}">
                <a16:creationId xmlns:a16="http://schemas.microsoft.com/office/drawing/2014/main" id="{4F8D3981-4C68-4C2C-BE24-7263DA1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2" name="Shape 22">
            <a:extLst xmlns:a="http://schemas.openxmlformats.org/drawingml/2006/main">
              <a:ext uri="{FF2B5EF4-FFF2-40B4-BE49-F238E27FC236}">
                <a16:creationId xmlns:a16="http://schemas.microsoft.com/office/drawing/2014/main" id="{2FA917AD-58D6-4687-9BA9-21F7DC5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3" name="Shape 23">
            <a:extLst xmlns:a="http://schemas.openxmlformats.org/drawingml/2006/main">
              <a:ext uri="{FF2B5EF4-FFF2-40B4-BE49-F238E27FC236}">
                <a16:creationId xmlns:a16="http://schemas.microsoft.com/office/drawing/2014/main" id="{9F2BE04A-96DB-4DAF-8594-EE0425A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4" name="Shape 24">
            <a:extLst xmlns:a="http://schemas.openxmlformats.org/drawingml/2006/main">
              <a:ext uri="{FF2B5EF4-FFF2-40B4-BE49-F238E27FC236}">
                <a16:creationId xmlns:a16="http://schemas.microsoft.com/office/drawing/2014/main" id="{59F7FFA8-2B65-441E-972F-FABB004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5" name="Shape 25">
            <a:extLst xmlns:a="http://schemas.openxmlformats.org/drawingml/2006/main">
              <a:ext uri="{FF2B5EF4-FFF2-40B4-BE49-F238E27FC236}">
                <a16:creationId xmlns:a16="http://schemas.microsoft.com/office/drawing/2014/main" id="{E1F3D0F3-7737-462F-93CC-E98425C6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6" name="Shape 26">
            <a:extLst xmlns:a="http://schemas.openxmlformats.org/drawingml/2006/main">
              <a:ext uri="{FF2B5EF4-FFF2-40B4-BE49-F238E27FC236}">
                <a16:creationId xmlns:a16="http://schemas.microsoft.com/office/drawing/2014/main" id="{CB4AC790-0968-482C-B592-C01A8F5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7" name="Shape 27">
            <a:extLst xmlns:a="http://schemas.openxmlformats.org/drawingml/2006/main">
              <a:ext uri="{FF2B5EF4-FFF2-40B4-BE49-F238E27FC236}">
                <a16:creationId xmlns:a16="http://schemas.microsoft.com/office/drawing/2014/main" id="{56B22B23-B8FC-43D0-B156-4C91274F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8" name="Text 28">
            <a:extLst xmlns:a="http://schemas.openxmlformats.org/drawingml/2006/main">
              <a:ext uri="{FF2B5EF4-FFF2-40B4-BE49-F238E27FC236}">
                <a16:creationId xmlns:a16="http://schemas.microsoft.com/office/drawing/2014/main" id="{2354D53E-2939-493D-8E79-C6C4332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TERRAIN VALIDITY</a:t>
            </a:r>
          </a:p>
        </p:txBody>
      </p:sp>
      <p:sp>
        <p:nvSpPr>
          <p:cNvPr id="419" name="Text 29">
            <a:extLst xmlns:a="http://schemas.openxmlformats.org/drawingml/2006/main">
              <a:ext uri="{FF2B5EF4-FFF2-40B4-BE49-F238E27FC236}">
                <a16:creationId xmlns:a16="http://schemas.microsoft.com/office/drawing/2014/main" id="{3E3BF542-CB4C-4F09-945C-934331A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Mapped mare-proxy TiO₂ is positive but not significant</a:t>
            </a:r>
          </a:p>
        </p:txBody>
      </p:sp>
      <p:sp>
        <p:nvSpPr>
          <p:cNvPr id="420" name="Shape 30">
            <a:extLst xmlns:a="http://schemas.openxmlformats.org/drawingml/2006/main">
              <a:ext uri="{FF2B5EF4-FFF2-40B4-BE49-F238E27FC236}">
                <a16:creationId xmlns:a16="http://schemas.microsoft.com/office/drawing/2014/main" id="{BD3A7C08-E369-462D-A29B-C666B33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4708440" cy="274248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F2A93B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1" name="Text 31">
            <a:extLst xmlns:a="http://schemas.openxmlformats.org/drawingml/2006/main">
              <a:ext uri="{FF2B5EF4-FFF2-40B4-BE49-F238E27FC236}">
                <a16:creationId xmlns:a16="http://schemas.microsoft.com/office/drawing/2014/main" id="{2CB8E240-CAA4-4B89-A295-30E5C731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41598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Mapped mare-proxy binary</a:t>
            </a:r>
          </a:p>
        </p:txBody>
      </p:sp>
      <p:sp>
        <p:nvSpPr>
          <p:cNvPr id="422" name="Text 32">
            <a:extLst xmlns:a="http://schemas.openxmlformats.org/drawingml/2006/main">
              <a:ext uri="{FF2B5EF4-FFF2-40B4-BE49-F238E27FC236}">
                <a16:creationId xmlns:a16="http://schemas.microsoft.com/office/drawing/2014/main" id="{B21008C2-D632-4083-90AF-430AB54E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4159800" cy="100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60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ΔPR-AUC +.067614; +TiO₂ .125209 versus controls .057595 (p=.21875).</a:t>
            </a:r>
          </a:p>
        </p:txBody>
      </p:sp>
      <p:sp>
        <p:nvSpPr>
          <p:cNvPr id="423" name="Text 33">
            <a:extLst xmlns:a="http://schemas.openxmlformats.org/drawingml/2006/main">
              <a:ext uri="{FF2B5EF4-FFF2-40B4-BE49-F238E27FC236}">
                <a16:creationId xmlns:a16="http://schemas.microsoft.com/office/drawing/2014/main" id="{2C3966BB-C95F-4A03-A939-6DA4FB1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415980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0" i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n=6,232 · 58 positives</a:t>
            </a:r>
          </a:p>
        </p:txBody>
      </p:sp>
      <p:sp>
        <p:nvSpPr>
          <p:cNvPr id="424" name="Shape 34">
            <a:extLst xmlns:a="http://schemas.openxmlformats.org/drawingml/2006/main">
              <a:ext uri="{FF2B5EF4-FFF2-40B4-BE49-F238E27FC236}">
                <a16:creationId xmlns:a16="http://schemas.microsoft.com/office/drawing/2014/main" id="{69E46985-FE9E-48C1-A284-EEBF62CD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17520"/>
            <a:ext cx="1005120" cy="4564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E8795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5" name="Text 35">
            <a:extLst xmlns:a="http://schemas.openxmlformats.org/drawingml/2006/main">
              <a:ext uri="{FF2B5EF4-FFF2-40B4-BE49-F238E27FC236}">
                <a16:creationId xmlns:a16="http://schemas.microsoft.com/office/drawing/2014/main" id="{A9526443-18A6-4A80-8AD3-950D2F7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440" y="1554480"/>
            <a:ext cx="1599480" cy="82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300" b="1" u="none">
                <a:solidFill>
                  <a:srgbClr val="E8795E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26" name="Shape 36">
            <a:extLst xmlns:a="http://schemas.openxmlformats.org/drawingml/2006/main">
              <a:ext uri="{FF2B5EF4-FFF2-40B4-BE49-F238E27FC236}">
                <a16:creationId xmlns:a16="http://schemas.microsoft.com/office/drawing/2014/main" id="{D41200B4-B821-45CE-9BE7-920B4532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20"/>
            <a:ext cx="4708440" cy="274248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5AC8E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7" name="Text 37">
            <a:extLst xmlns:a="http://schemas.openxmlformats.org/drawingml/2006/main">
              <a:ext uri="{FF2B5EF4-FFF2-40B4-BE49-F238E27FC236}">
                <a16:creationId xmlns:a16="http://schemas.microsoft.com/office/drawing/2014/main" id="{93EA2052-FA06-434A-BEE8-288B5ED8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148840"/>
            <a:ext cx="41598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Mapped mare-proxy continuous</a:t>
            </a:r>
          </a:p>
        </p:txBody>
      </p:sp>
      <p:sp>
        <p:nvSpPr>
          <p:cNvPr id="428" name="Text 38">
            <a:extLst xmlns:a="http://schemas.openxmlformats.org/drawingml/2006/main">
              <a:ext uri="{FF2B5EF4-FFF2-40B4-BE49-F238E27FC236}">
                <a16:creationId xmlns:a16="http://schemas.microsoft.com/office/drawing/2014/main" id="{B87A5EC0-22A0-4C55-8E0B-9C0C934F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651760"/>
            <a:ext cx="4159800" cy="100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60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Controls R² .425691 → .438387; raw-Ti increment +.012696±.012575. Common-fold gain vs full raw-Ti: +.001445.</a:t>
            </a:r>
          </a:p>
        </p:txBody>
      </p:sp>
      <p:sp>
        <p:nvSpPr>
          <p:cNvPr id="429" name="Text 39">
            <a:extLst xmlns:a="http://schemas.openxmlformats.org/drawingml/2006/main">
              <a:ext uri="{FF2B5EF4-FFF2-40B4-BE49-F238E27FC236}">
                <a16:creationId xmlns:a16="http://schemas.microsoft.com/office/drawing/2014/main" id="{BA1875AA-102A-4908-832F-2E43311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69080"/>
            <a:ext cx="415980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0" i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proxy range 3289 km · n_eff=1</a:t>
            </a:r>
          </a:p>
        </p:txBody>
      </p:sp>
      <p:sp>
        <p:nvSpPr>
          <p:cNvPr id="430" name="Shape 40">
            <a:extLst xmlns:a="http://schemas.openxmlformats.org/drawingml/2006/main">
              <a:ext uri="{FF2B5EF4-FFF2-40B4-BE49-F238E27FC236}">
                <a16:creationId xmlns:a16="http://schemas.microsoft.com/office/drawing/2014/main" id="{D56F3892-EA30-48E5-A85C-0BF6E13F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880640" cy="123372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A4E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1" name="Text 41">
            <a:extLst xmlns:a="http://schemas.openxmlformats.org/drawingml/2006/main">
              <a:ext uri="{FF2B5EF4-FFF2-40B4-BE49-F238E27FC236}">
                <a16:creationId xmlns:a16="http://schemas.microsoft.com/office/drawing/2014/main" id="{F47D3051-1714-456F-8037-C834EC7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00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550" b="1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Interpretation:  </a:t>
            </a:r>
            <a:r>
              <a:rPr sz="155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Both proxy checks remain descriptive: the mapped proxy footprint still supplies only one dependence-scale unit, not </a:t>
            </a:r>
            <a:r>
              <a:rPr sz="1550" b="1" u="none">
                <a:solidFill>
                  <a:srgbClr val="5AC8E6"/>
                </a:solidFill>
                <a:latin typeface="Calibri"/>
                <a:ea typeface="Calibri"/>
                <a:cs typeface="Calibri"/>
              </a:rPr>
              <a:t>an independent global confirmation.</a:t>
            </a:r>
          </a:p>
        </p:txBody>
      </p:sp>
    </p:spTree>
    <p:extLst>
      <p:ext uri="{BB962C8B-B14F-4D97-AF65-F5344CB8AC3E}">
        <p14:creationId xmlns:p14="http://schemas.microsoft.com/office/powerpoint/2010/main" val="965565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2" name="Shape 0">
            <a:extLst xmlns:a="http://schemas.openxmlformats.org/drawingml/2006/main">
              <a:ext uri="{FF2B5EF4-FFF2-40B4-BE49-F238E27FC236}">
                <a16:creationId xmlns:a16="http://schemas.microsoft.com/office/drawing/2014/main" id="{6679CFB6-12DB-48F7-8E12-D38C6563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3" name="Shape 1">
            <a:extLst xmlns:a="http://schemas.openxmlformats.org/drawingml/2006/main">
              <a:ext uri="{FF2B5EF4-FFF2-40B4-BE49-F238E27FC236}">
                <a16:creationId xmlns:a16="http://schemas.microsoft.com/office/drawing/2014/main" id="{FCCE7A01-DC84-477E-9660-58619C5F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4" name="Shape 2">
            <a:extLst xmlns:a="http://schemas.openxmlformats.org/drawingml/2006/main">
              <a:ext uri="{FF2B5EF4-FFF2-40B4-BE49-F238E27FC236}">
                <a16:creationId xmlns:a16="http://schemas.microsoft.com/office/drawing/2014/main" id="{42C72EFA-6459-4825-B371-70542A0E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5" name="Shape 3">
            <a:extLst xmlns:a="http://schemas.openxmlformats.org/drawingml/2006/main">
              <a:ext uri="{FF2B5EF4-FFF2-40B4-BE49-F238E27FC236}">
                <a16:creationId xmlns:a16="http://schemas.microsoft.com/office/drawing/2014/main" id="{9FFDE75A-C15C-46AF-BE19-1353A33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6" name="Shape 4">
            <a:extLst xmlns:a="http://schemas.openxmlformats.org/drawingml/2006/main">
              <a:ext uri="{FF2B5EF4-FFF2-40B4-BE49-F238E27FC236}">
                <a16:creationId xmlns:a16="http://schemas.microsoft.com/office/drawing/2014/main" id="{AB4AB602-2497-433B-89A8-75BE24D7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7" name="Shape 5">
            <a:extLst xmlns:a="http://schemas.openxmlformats.org/drawingml/2006/main">
              <a:ext uri="{FF2B5EF4-FFF2-40B4-BE49-F238E27FC236}">
                <a16:creationId xmlns:a16="http://schemas.microsoft.com/office/drawing/2014/main" id="{15E6F7F3-5FFF-4093-A135-6B15B0F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8" name="Shape 6">
            <a:extLst xmlns:a="http://schemas.openxmlformats.org/drawingml/2006/main">
              <a:ext uri="{FF2B5EF4-FFF2-40B4-BE49-F238E27FC236}">
                <a16:creationId xmlns:a16="http://schemas.microsoft.com/office/drawing/2014/main" id="{33DFA769-E9E8-4810-8B94-A79D277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9" name="Shape 7">
            <a:extLst xmlns:a="http://schemas.openxmlformats.org/drawingml/2006/main">
              <a:ext uri="{FF2B5EF4-FFF2-40B4-BE49-F238E27FC236}">
                <a16:creationId xmlns:a16="http://schemas.microsoft.com/office/drawing/2014/main" id="{608EF25D-FD9F-4619-A905-7D1B0F5B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0" name="Shape 8">
            <a:extLst xmlns:a="http://schemas.openxmlformats.org/drawingml/2006/main">
              <a:ext uri="{FF2B5EF4-FFF2-40B4-BE49-F238E27FC236}">
                <a16:creationId xmlns:a16="http://schemas.microsoft.com/office/drawing/2014/main" id="{15D5221F-CC34-4898-9DD3-6CD1C4B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1" name="Shape 9">
            <a:extLst xmlns:a="http://schemas.openxmlformats.org/drawingml/2006/main">
              <a:ext uri="{FF2B5EF4-FFF2-40B4-BE49-F238E27FC236}">
                <a16:creationId xmlns:a16="http://schemas.microsoft.com/office/drawing/2014/main" id="{7D98956C-A8E4-4473-A6E4-AE1E7C0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2" name="Shape 10">
            <a:extLst xmlns:a="http://schemas.openxmlformats.org/drawingml/2006/main">
              <a:ext uri="{FF2B5EF4-FFF2-40B4-BE49-F238E27FC236}">
                <a16:creationId xmlns:a16="http://schemas.microsoft.com/office/drawing/2014/main" id="{9602BF94-C33D-4C85-BF89-31555D4F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3" name="Shape 11">
            <a:extLst xmlns:a="http://schemas.openxmlformats.org/drawingml/2006/main">
              <a:ext uri="{FF2B5EF4-FFF2-40B4-BE49-F238E27FC236}">
                <a16:creationId xmlns:a16="http://schemas.microsoft.com/office/drawing/2014/main" id="{B68A0765-7113-484C-876D-2C4D145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4" name="Shape 12">
            <a:extLst xmlns:a="http://schemas.openxmlformats.org/drawingml/2006/main">
              <a:ext uri="{FF2B5EF4-FFF2-40B4-BE49-F238E27FC236}">
                <a16:creationId xmlns:a16="http://schemas.microsoft.com/office/drawing/2014/main" id="{CEF81F2A-9A2C-4019-814D-3255F95B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5" name="Shape 13">
            <a:extLst xmlns:a="http://schemas.openxmlformats.org/drawingml/2006/main">
              <a:ext uri="{FF2B5EF4-FFF2-40B4-BE49-F238E27FC236}">
                <a16:creationId xmlns:a16="http://schemas.microsoft.com/office/drawing/2014/main" id="{25373840-DA33-46F7-9F43-16D18AF5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6" name="Shape 14">
            <a:extLst xmlns:a="http://schemas.openxmlformats.org/drawingml/2006/main">
              <a:ext uri="{FF2B5EF4-FFF2-40B4-BE49-F238E27FC236}">
                <a16:creationId xmlns:a16="http://schemas.microsoft.com/office/drawing/2014/main" id="{63E00D98-7161-44D3-8D1F-17692869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7" name="Shape 15">
            <a:extLst xmlns:a="http://schemas.openxmlformats.org/drawingml/2006/main">
              <a:ext uri="{FF2B5EF4-FFF2-40B4-BE49-F238E27FC236}">
                <a16:creationId xmlns:a16="http://schemas.microsoft.com/office/drawing/2014/main" id="{DA135688-5518-413C-B8B9-A295600B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8" name="Shape 16">
            <a:extLst xmlns:a="http://schemas.openxmlformats.org/drawingml/2006/main">
              <a:ext uri="{FF2B5EF4-FFF2-40B4-BE49-F238E27FC236}">
                <a16:creationId xmlns:a16="http://schemas.microsoft.com/office/drawing/2014/main" id="{D4EBE213-6D88-41D4-9083-C319718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9" name="Shape 17">
            <a:extLst xmlns:a="http://schemas.openxmlformats.org/drawingml/2006/main">
              <a:ext uri="{FF2B5EF4-FFF2-40B4-BE49-F238E27FC236}">
                <a16:creationId xmlns:a16="http://schemas.microsoft.com/office/drawing/2014/main" id="{72264179-AD8D-4F39-9E27-E625B4C7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0" name="Shape 18">
            <a:extLst xmlns:a="http://schemas.openxmlformats.org/drawingml/2006/main">
              <a:ext uri="{FF2B5EF4-FFF2-40B4-BE49-F238E27FC236}">
                <a16:creationId xmlns:a16="http://schemas.microsoft.com/office/drawing/2014/main" id="{57EB3E4F-66A6-4BD3-87DA-EC70D1B5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1" name="Shape 19">
            <a:extLst xmlns:a="http://schemas.openxmlformats.org/drawingml/2006/main">
              <a:ext uri="{FF2B5EF4-FFF2-40B4-BE49-F238E27FC236}">
                <a16:creationId xmlns:a16="http://schemas.microsoft.com/office/drawing/2014/main" id="{D5CE3B5C-E2C0-410C-9699-760A8925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2" name="Shape 20">
            <a:extLst xmlns:a="http://schemas.openxmlformats.org/drawingml/2006/main">
              <a:ext uri="{FF2B5EF4-FFF2-40B4-BE49-F238E27FC236}">
                <a16:creationId xmlns:a16="http://schemas.microsoft.com/office/drawing/2014/main" id="{0BFBC327-0413-4F6E-9726-24613B8C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3" name="Shape 21">
            <a:extLst xmlns:a="http://schemas.openxmlformats.org/drawingml/2006/main">
              <a:ext uri="{FF2B5EF4-FFF2-40B4-BE49-F238E27FC236}">
                <a16:creationId xmlns:a16="http://schemas.microsoft.com/office/drawing/2014/main" id="{FAD2E92D-5C0A-499E-85EA-682EDECC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4" name="Shape 22">
            <a:extLst xmlns:a="http://schemas.openxmlformats.org/drawingml/2006/main">
              <a:ext uri="{FF2B5EF4-FFF2-40B4-BE49-F238E27FC236}">
                <a16:creationId xmlns:a16="http://schemas.microsoft.com/office/drawing/2014/main" id="{CBE235E0-7C18-432C-BA85-068B057A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5" name="Shape 23">
            <a:extLst xmlns:a="http://schemas.openxmlformats.org/drawingml/2006/main">
              <a:ext uri="{FF2B5EF4-FFF2-40B4-BE49-F238E27FC236}">
                <a16:creationId xmlns:a16="http://schemas.microsoft.com/office/drawing/2014/main" id="{3DC506F1-CFEC-4172-BC0E-EA564877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6" name="Shape 24">
            <a:extLst xmlns:a="http://schemas.openxmlformats.org/drawingml/2006/main">
              <a:ext uri="{FF2B5EF4-FFF2-40B4-BE49-F238E27FC236}">
                <a16:creationId xmlns:a16="http://schemas.microsoft.com/office/drawing/2014/main" id="{CB82463B-A04A-4164-96FD-F3C462DA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7" name="Shape 25">
            <a:extLst xmlns:a="http://schemas.openxmlformats.org/drawingml/2006/main">
              <a:ext uri="{FF2B5EF4-FFF2-40B4-BE49-F238E27FC236}">
                <a16:creationId xmlns:a16="http://schemas.microsoft.com/office/drawing/2014/main" id="{9D345999-DEBE-4669-9210-57C28FBF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8" name="Shape 26">
            <a:extLst xmlns:a="http://schemas.openxmlformats.org/drawingml/2006/main">
              <a:ext uri="{FF2B5EF4-FFF2-40B4-BE49-F238E27FC236}">
                <a16:creationId xmlns:a16="http://schemas.microsoft.com/office/drawing/2014/main" id="{32AC0A05-D7A4-4472-885E-8034A56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9" name="Shape 27">
            <a:extLst xmlns:a="http://schemas.openxmlformats.org/drawingml/2006/main">
              <a:ext uri="{FF2B5EF4-FFF2-40B4-BE49-F238E27FC236}">
                <a16:creationId xmlns:a16="http://schemas.microsoft.com/office/drawing/2014/main" id="{FF1EAD3E-6AA3-491F-8B5D-57E87930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0" name="Text 28">
            <a:extLst xmlns:a="http://schemas.openxmlformats.org/drawingml/2006/main">
              <a:ext uri="{FF2B5EF4-FFF2-40B4-BE49-F238E27FC236}">
                <a16:creationId xmlns:a16="http://schemas.microsoft.com/office/drawing/2014/main" id="{8A4218CA-EF94-43BD-B5CC-7B7BC616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8880" cy="31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 spc="300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INTELLECTUAL HONESTY</a:t>
            </a:r>
          </a:p>
        </p:txBody>
      </p:sp>
      <p:sp>
        <p:nvSpPr>
          <p:cNvPr id="461" name="Text 29">
            <a:extLst xmlns:a="http://schemas.openxmlformats.org/drawingml/2006/main">
              <a:ext uri="{FF2B5EF4-FFF2-40B4-BE49-F238E27FC236}">
                <a16:creationId xmlns:a16="http://schemas.microsoft.com/office/drawing/2014/main" id="{5F4E1517-3D14-471C-B1D1-0BAF30CC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68680"/>
            <a:ext cx="1097208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Three diagnostics set the inference ceiling</a:t>
            </a:r>
          </a:p>
        </p:txBody>
      </p:sp>
      <p:sp>
        <p:nvSpPr>
          <p:cNvPr id="462" name="Shape 30">
            <a:extLst xmlns:a="http://schemas.openxmlformats.org/drawingml/2006/main">
              <a:ext uri="{FF2B5EF4-FFF2-40B4-BE49-F238E27FC236}">
                <a16:creationId xmlns:a16="http://schemas.microsoft.com/office/drawing/2014/main" id="{05149486-BC9B-491D-BD93-5C81C04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6948720" cy="109656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3" name="Shape 31">
            <a:extLst xmlns:a="http://schemas.openxmlformats.org/drawingml/2006/main">
              <a:ext uri="{FF2B5EF4-FFF2-40B4-BE49-F238E27FC236}">
                <a16:creationId xmlns:a16="http://schemas.microsoft.com/office/drawing/2014/main" id="{01294AA3-E6F3-429C-8E6E-59A2ACF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3172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4" name="Text 32">
            <a:extLst xmlns:a="http://schemas.openxmlformats.org/drawingml/2006/main">
              <a:ext uri="{FF2B5EF4-FFF2-40B4-BE49-F238E27FC236}">
                <a16:creationId xmlns:a16="http://schemas.microsoft.com/office/drawing/2014/main" id="{3F9DFC8B-1601-4980-9923-DAA4AB8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75760"/>
            <a:ext cx="61257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Dependence exceeds blocks</a:t>
            </a:r>
          </a:p>
        </p:txBody>
      </p:sp>
      <p:sp>
        <p:nvSpPr>
          <p:cNvPr id="465" name="Text 33">
            <a:extLst xmlns:a="http://schemas.openxmlformats.org/drawingml/2006/main">
              <a:ext uri="{FF2B5EF4-FFF2-40B4-BE49-F238E27FC236}">
                <a16:creationId xmlns:a16="http://schemas.microsoft.com/office/drawing/2014/main" id="{4B91BA89-DAD0-40AB-9597-76232CB2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441520"/>
            <a:ext cx="612576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n_eff≈1. Even 60° blocks (~1819 km) remain below the ~3752 km dependence range.</a:t>
            </a:r>
          </a:p>
        </p:txBody>
      </p:sp>
      <p:sp>
        <p:nvSpPr>
          <p:cNvPr id="466" name="Shape 34">
            <a:extLst xmlns:a="http://schemas.openxmlformats.org/drawingml/2006/main">
              <a:ext uri="{FF2B5EF4-FFF2-40B4-BE49-F238E27FC236}">
                <a16:creationId xmlns:a16="http://schemas.microsoft.com/office/drawing/2014/main" id="{06E246D7-5C4C-4BEB-92A9-FC83221B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6948720" cy="109656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7" name="Shape 35">
            <a:extLst xmlns:a="http://schemas.openxmlformats.org/drawingml/2006/main">
              <a:ext uri="{FF2B5EF4-FFF2-40B4-BE49-F238E27FC236}">
                <a16:creationId xmlns:a16="http://schemas.microsoft.com/office/drawing/2014/main" id="{5F448531-9853-4FD8-99D2-EC0CF01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6616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8" name="Text 36">
            <a:extLst xmlns:a="http://schemas.openxmlformats.org/drawingml/2006/main">
              <a:ext uri="{FF2B5EF4-FFF2-40B4-BE49-F238E27FC236}">
                <a16:creationId xmlns:a16="http://schemas.microsoft.com/office/drawing/2014/main" id="{DAADC7C7-9851-4BA5-88F6-1C647725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310200"/>
            <a:ext cx="61257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Matched H2 benchmark recovered</a:t>
            </a:r>
          </a:p>
        </p:txBody>
      </p:sp>
      <p:sp>
        <p:nvSpPr>
          <p:cNvPr id="469" name="Text 37">
            <a:extLst xmlns:a="http://schemas.openxmlformats.org/drawingml/2006/main">
              <a:ext uri="{FF2B5EF4-FFF2-40B4-BE49-F238E27FC236}">
                <a16:creationId xmlns:a16="http://schemas.microsoft.com/office/drawing/2014/main" id="{E2220E1C-23C2-4BC1-8171-397FB6C1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75960"/>
            <a:ext cx="612576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Full PR-AUC .088972 vs fold-matched null mean .112697, SD .056903 and 95th .225555 (p=.564356); H2 match p=.039604.</a:t>
            </a:r>
          </a:p>
        </p:txBody>
      </p:sp>
      <p:sp>
        <p:nvSpPr>
          <p:cNvPr id="470" name="Shape 38">
            <a:extLst xmlns:a="http://schemas.openxmlformats.org/drawingml/2006/main">
              <a:ext uri="{FF2B5EF4-FFF2-40B4-BE49-F238E27FC236}">
                <a16:creationId xmlns:a16="http://schemas.microsoft.com/office/drawing/2014/main" id="{743E04E3-8B34-4AC4-98FB-84339B6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6948720" cy="109656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213F"/>
          </a:solidFill>
          <a:ln xmlns:a="http://schemas.openxmlformats.org/drawingml/2006/main" w="12700">
            <a:solidFill>
              <a:srgbClr val="2E3B66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1" name="Shape 39">
            <a:extLst xmlns:a="http://schemas.openxmlformats.org/drawingml/2006/main">
              <a:ext uri="{FF2B5EF4-FFF2-40B4-BE49-F238E27FC236}">
                <a16:creationId xmlns:a16="http://schemas.microsoft.com/office/drawing/2014/main" id="{8D32DBDA-3735-4FA4-AD0E-23085BAE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00600"/>
            <a:ext cx="182160" cy="18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2" name="Text 40">
            <a:extLst xmlns:a="http://schemas.openxmlformats.org/drawingml/2006/main">
              <a:ext uri="{FF2B5EF4-FFF2-40B4-BE49-F238E27FC236}">
                <a16:creationId xmlns:a16="http://schemas.microsoft.com/office/drawing/2014/main" id="{EE2BF863-95E0-49DF-83ED-26EDF84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44640"/>
            <a:ext cx="61257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Power floor is not adequate power</a:t>
            </a:r>
          </a:p>
        </p:txBody>
      </p:sp>
      <p:sp>
        <p:nvSpPr>
          <p:cNvPr id="473" name="Text 41">
            <a:extLst xmlns:a="http://schemas.openxmlformats.org/drawingml/2006/main">
              <a:ext uri="{FF2B5EF4-FFF2-40B4-BE49-F238E27FC236}">
                <a16:creationId xmlns:a16="http://schemas.microsoft.com/office/drawing/2014/main" id="{B834F769-50A1-4672-BF9D-669608E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910400"/>
            <a:ext cx="612576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H2 recovery: 3/30 at β=0 rising to 30/30 by β=3 (point MDE β=1). H1 arm: ≤1/30 at β≤0.3, 12/30 at β=1 — inadequate at every tested strength.</a:t>
            </a:r>
          </a:p>
        </p:txBody>
      </p:sp>
      <p:sp>
        <p:nvSpPr>
          <p:cNvPr id="474" name="Shape 42">
            <a:extLst xmlns:a="http://schemas.openxmlformats.org/drawingml/2006/main">
              <a:ext uri="{FF2B5EF4-FFF2-40B4-BE49-F238E27FC236}">
                <a16:creationId xmlns:a16="http://schemas.microsoft.com/office/drawing/2014/main" id="{FAF54B73-BE8D-43D7-9D37-796C5709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74520"/>
            <a:ext cx="3702600" cy="351972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E2A4E"/>
          </a:solidFill>
          <a:ln xmlns:a="http://schemas.openxmlformats.org/drawingml/2006/main" w="12700">
            <a:solidFill>
              <a:srgbClr val="F2A93B"/>
            </a:solidFill>
          </a:ln>
          <a:effectLst xmlns:a="http://schemas.openxmlformats.org/drawingml/2006/main">
            <a:outerShdw blurRad="101520" dist="38160" dir="5400000" sx="100000" sy="100000" kx="0" ky="0" algn="bl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5" name="Text 43">
            <a:extLst xmlns:a="http://schemas.openxmlformats.org/drawingml/2006/main">
              <a:ext uri="{FF2B5EF4-FFF2-40B4-BE49-F238E27FC236}">
                <a16:creationId xmlns:a16="http://schemas.microsoft.com/office/drawing/2014/main" id="{43B31858-CDC8-47E4-8C70-91E5A28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9136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6600" b="1" u="none">
                <a:solidFill>
                  <a:srgbClr val="F2A93B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476" name="Text 44">
            <a:extLst xmlns:a="http://schemas.openxmlformats.org/drawingml/2006/main">
              <a:ext uri="{FF2B5EF4-FFF2-40B4-BE49-F238E27FC236}">
                <a16:creationId xmlns:a16="http://schemas.microsoft.com/office/drawing/2014/main" id="{C16FF3BD-74ED-4A8F-A937-A58C9DA7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88920"/>
            <a:ext cx="3199680" cy="182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INCONCLUSIVE</a:t>
            </a:r>
          </a:p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1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LOW POWER</a:t>
            </a:r>
          </a:p>
        </p:txBody>
      </p:sp>
      <p:sp>
        <p:nvSpPr>
          <p:cNvPr id="477" name="Text 45">
            <a:extLst xmlns:a="http://schemas.openxmlformats.org/drawingml/2006/main">
              <a:ext uri="{FF2B5EF4-FFF2-40B4-BE49-F238E27FC236}">
                <a16:creationId xmlns:a16="http://schemas.microsoft.com/office/drawing/2014/main" id="{F22E1216-9DD0-4CB2-B2C8-5E50435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800600"/>
            <a:ext cx="319968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50" b="0" i="1" u="none">
                <a:solidFill>
                  <a:srgbClr val="9AA7C7"/>
                </a:solidFill>
                <a:latin typeface="Calibri"/>
                <a:ea typeface="Calibri"/>
                <a:cs typeface="Calibri"/>
              </a:rPr>
              <a:t>β=1 implies risk +.0557 and OR≈607; no justified target effect.</a:t>
            </a:r>
          </a:p>
        </p:txBody>
      </p:sp>
    </p:spTree>
    <p:extLst>
      <p:ext uri="{BB962C8B-B14F-4D97-AF65-F5344CB8AC3E}">
        <p14:creationId xmlns:p14="http://schemas.microsoft.com/office/powerpoint/2010/main" val="4003709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Shape 0">
            <a:extLst xmlns:a="http://schemas.openxmlformats.org/drawingml/2006/main">
              <a:ext uri="{FF2B5EF4-FFF2-40B4-BE49-F238E27FC236}">
                <a16:creationId xmlns:a16="http://schemas.microsoft.com/office/drawing/2014/main" id="{8EBFC248-8DE1-4938-9B46-CDC6544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9" name="Shape 1">
            <a:extLst xmlns:a="http://schemas.openxmlformats.org/drawingml/2006/main">
              <a:ext uri="{FF2B5EF4-FFF2-40B4-BE49-F238E27FC236}">
                <a16:creationId xmlns:a16="http://schemas.microsoft.com/office/drawing/2014/main" id="{3338D1D4-70D8-4F00-A77B-3302FC5F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887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0" name="Shape 2">
            <a:extLst xmlns:a="http://schemas.openxmlformats.org/drawingml/2006/main">
              <a:ext uri="{FF2B5EF4-FFF2-40B4-BE49-F238E27FC236}">
                <a16:creationId xmlns:a16="http://schemas.microsoft.com/office/drawing/2014/main" id="{A960F67F-10E3-4786-AF09-F15C84D7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1" name="Shape 3">
            <a:extLst xmlns:a="http://schemas.openxmlformats.org/drawingml/2006/main">
              <a:ext uri="{FF2B5EF4-FFF2-40B4-BE49-F238E27FC236}">
                <a16:creationId xmlns:a16="http://schemas.microsoft.com/office/drawing/2014/main" id="{C496BD36-AD52-459A-AF25-3931A97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9144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2" name="Shape 4">
            <a:extLst xmlns:a="http://schemas.openxmlformats.org/drawingml/2006/main">
              <a:ext uri="{FF2B5EF4-FFF2-40B4-BE49-F238E27FC236}">
                <a16:creationId xmlns:a16="http://schemas.microsoft.com/office/drawing/2014/main" id="{B4387F96-6EF0-4AF3-9042-AEF13AB4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3" name="Shape 5">
            <a:extLst xmlns:a="http://schemas.openxmlformats.org/drawingml/2006/main">
              <a:ext uri="{FF2B5EF4-FFF2-40B4-BE49-F238E27FC236}">
                <a16:creationId xmlns:a16="http://schemas.microsoft.com/office/drawing/2014/main" id="{98C4B811-8E2B-4F20-9E63-066C7A6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4" name="Shape 6">
            <a:extLst xmlns:a="http://schemas.openxmlformats.org/drawingml/2006/main">
              <a:ext uri="{FF2B5EF4-FFF2-40B4-BE49-F238E27FC236}">
                <a16:creationId xmlns:a16="http://schemas.microsoft.com/office/drawing/2014/main" id="{6DF7E189-582A-4EB6-923E-C733998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5" name="Shape 7">
            <a:extLst xmlns:a="http://schemas.openxmlformats.org/drawingml/2006/main">
              <a:ext uri="{FF2B5EF4-FFF2-40B4-BE49-F238E27FC236}">
                <a16:creationId xmlns:a16="http://schemas.microsoft.com/office/drawing/2014/main" id="{3EE12922-08E7-4835-AEDD-B16705F2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6" name="Shape 8">
            <a:extLst xmlns:a="http://schemas.openxmlformats.org/drawingml/2006/main">
              <a:ext uri="{FF2B5EF4-FFF2-40B4-BE49-F238E27FC236}">
                <a16:creationId xmlns:a16="http://schemas.microsoft.com/office/drawing/2014/main" id="{185A078E-EDEC-4460-9902-0B36DC8F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7" name="Shape 9">
            <a:extLst xmlns:a="http://schemas.openxmlformats.org/drawingml/2006/main">
              <a:ext uri="{FF2B5EF4-FFF2-40B4-BE49-F238E27FC236}">
                <a16:creationId xmlns:a16="http://schemas.microsoft.com/office/drawing/2014/main" id="{BA1FC09D-CE9D-4432-9822-1083956F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0350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8" name="Shape 10">
            <a:extLst xmlns:a="http://schemas.openxmlformats.org/drawingml/2006/main">
              <a:ext uri="{FF2B5EF4-FFF2-40B4-BE49-F238E27FC236}">
                <a16:creationId xmlns:a16="http://schemas.microsoft.com/office/drawing/2014/main" id="{544EB32E-31B6-40DD-B26A-9CAA258E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5486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9" name="Shape 11">
            <a:extLst xmlns:a="http://schemas.openxmlformats.org/drawingml/2006/main">
              <a:ext uri="{FF2B5EF4-FFF2-40B4-BE49-F238E27FC236}">
                <a16:creationId xmlns:a16="http://schemas.microsoft.com/office/drawing/2014/main" id="{EC6398BD-E833-4377-8A9A-7E08DBB1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2801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0" name="Shape 12">
            <a:extLst xmlns:a="http://schemas.openxmlformats.org/drawingml/2006/main">
              <a:ext uri="{FF2B5EF4-FFF2-40B4-BE49-F238E27FC236}">
                <a16:creationId xmlns:a16="http://schemas.microsoft.com/office/drawing/2014/main" id="{FBBD63B8-BFB5-4FD2-A7C4-6A34D8C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21031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1" name="Shape 13">
            <a:extLst xmlns:a="http://schemas.openxmlformats.org/drawingml/2006/main">
              <a:ext uri="{FF2B5EF4-FFF2-40B4-BE49-F238E27FC236}">
                <a16:creationId xmlns:a16="http://schemas.microsoft.com/office/drawing/2014/main" id="{A93E14B5-3660-4555-9EA2-AADF83D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926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2" name="Shape 14">
            <a:extLst xmlns:a="http://schemas.openxmlformats.org/drawingml/2006/main">
              <a:ext uri="{FF2B5EF4-FFF2-40B4-BE49-F238E27FC236}">
                <a16:creationId xmlns:a16="http://schemas.microsoft.com/office/drawing/2014/main" id="{839141E4-B556-4D71-BDDB-2253F81D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749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3" name="Shape 15">
            <a:extLst xmlns:a="http://schemas.openxmlformats.org/drawingml/2006/main">
              <a:ext uri="{FF2B5EF4-FFF2-40B4-BE49-F238E27FC236}">
                <a16:creationId xmlns:a16="http://schemas.microsoft.com/office/drawing/2014/main" id="{D1498DE3-5FAA-4812-B6BE-BE44712E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5720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4" name="Shape 16">
            <a:extLst xmlns:a="http://schemas.openxmlformats.org/drawingml/2006/main">
              <a:ext uri="{FF2B5EF4-FFF2-40B4-BE49-F238E27FC236}">
                <a16:creationId xmlns:a16="http://schemas.microsoft.com/office/drawing/2014/main" id="{02337099-963B-4044-A3BC-C6C903B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3949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5" name="Shape 17">
            <a:extLst xmlns:a="http://schemas.openxmlformats.org/drawingml/2006/main">
              <a:ext uri="{FF2B5EF4-FFF2-40B4-BE49-F238E27FC236}">
                <a16:creationId xmlns:a16="http://schemas.microsoft.com/office/drawing/2014/main" id="{467C6A3A-1698-4B5E-A253-AD0A2123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594360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6" name="Shape 18">
            <a:extLst xmlns:a="http://schemas.openxmlformats.org/drawingml/2006/main">
              <a:ext uri="{FF2B5EF4-FFF2-40B4-BE49-F238E27FC236}">
                <a16:creationId xmlns:a16="http://schemas.microsoft.com/office/drawing/2014/main" id="{2C497034-D838-4C1E-8F7C-7E92272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572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7" name="Shape 19">
            <a:extLst xmlns:a="http://schemas.openxmlformats.org/drawingml/2006/main">
              <a:ext uri="{FF2B5EF4-FFF2-40B4-BE49-F238E27FC236}">
                <a16:creationId xmlns:a16="http://schemas.microsoft.com/office/drawing/2014/main" id="{D026BF33-1FC4-49BA-949A-331AF64F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73152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8" name="Shape 20">
            <a:extLst xmlns:a="http://schemas.openxmlformats.org/drawingml/2006/main">
              <a:ext uri="{FF2B5EF4-FFF2-40B4-BE49-F238E27FC236}">
                <a16:creationId xmlns:a16="http://schemas.microsoft.com/office/drawing/2014/main" id="{08BC3B23-C158-4039-9B7D-8A07377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9" name="Shape 21">
            <a:extLst xmlns:a="http://schemas.openxmlformats.org/drawingml/2006/main">
              <a:ext uri="{FF2B5EF4-FFF2-40B4-BE49-F238E27FC236}">
                <a16:creationId xmlns:a16="http://schemas.microsoft.com/office/drawing/2014/main" id="{C444EDEC-6056-464C-B528-C371C684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4864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0" name="Shape 22">
            <a:extLst xmlns:a="http://schemas.openxmlformats.org/drawingml/2006/main">
              <a:ext uri="{FF2B5EF4-FFF2-40B4-BE49-F238E27FC236}">
                <a16:creationId xmlns:a16="http://schemas.microsoft.com/office/drawing/2014/main" id="{E542C6CF-BA54-45C3-8BF7-811F123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00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1" name="Shape 23">
            <a:extLst xmlns:a="http://schemas.openxmlformats.org/drawingml/2006/main">
              <a:ext uri="{FF2B5EF4-FFF2-40B4-BE49-F238E27FC236}">
                <a16:creationId xmlns:a16="http://schemas.microsoft.com/office/drawing/2014/main" id="{302D4CEF-9418-4065-A0CC-2E7C790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2" name="Shape 24">
            <a:extLst xmlns:a="http://schemas.openxmlformats.org/drawingml/2006/main">
              <a:ext uri="{FF2B5EF4-FFF2-40B4-BE49-F238E27FC236}">
                <a16:creationId xmlns:a16="http://schemas.microsoft.com/office/drawing/2014/main" id="{BEF2A2A3-5A9E-4612-8103-1D0D9E4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21792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3" name="Shape 25">
            <a:extLst xmlns:a="http://schemas.openxmlformats.org/drawingml/2006/main">
              <a:ext uri="{FF2B5EF4-FFF2-40B4-BE49-F238E27FC236}">
                <a16:creationId xmlns:a16="http://schemas.microsoft.com/office/drawing/2014/main" id="{608F772F-D775-4337-87AD-5595C474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03504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4" name="Shape 26">
            <a:extLst xmlns:a="http://schemas.openxmlformats.org/drawingml/2006/main">
              <a:ext uri="{FF2B5EF4-FFF2-40B4-BE49-F238E27FC236}">
                <a16:creationId xmlns:a16="http://schemas.microsoft.com/office/drawing/2014/main" id="{FA83DABA-B42E-4F39-AD7B-3203B881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126480"/>
            <a:ext cx="26640" cy="26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3320" tIns="-25920" rIns="13320" bIns="-259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5" name="Shape 27">
            <a:extLst xmlns:a="http://schemas.openxmlformats.org/drawingml/2006/main">
              <a:ext uri="{FF2B5EF4-FFF2-40B4-BE49-F238E27FC236}">
                <a16:creationId xmlns:a16="http://schemas.microsoft.com/office/drawing/2014/main" id="{B3E44AD7-7667-4104-951E-E0875FC7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943600"/>
            <a:ext cx="45000" cy="4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2680" tIns="-12600" rIns="22680" bIns="-126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6" name="Shape 28">
            <a:extLst xmlns:a="http://schemas.openxmlformats.org/drawingml/2006/main">
              <a:ext uri="{FF2B5EF4-FFF2-40B4-BE49-F238E27FC236}">
                <a16:creationId xmlns:a16="http://schemas.microsoft.com/office/drawing/2014/main" id="{8B4BF1E3-1721-475A-8C69-DFC1AAA0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960" y="354240"/>
            <a:ext cx="3314160" cy="3314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>
              <a:alpha val="10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7" name="Shape 29">
            <a:extLst xmlns:a="http://schemas.openxmlformats.org/drawingml/2006/main">
              <a:ext uri="{FF2B5EF4-FFF2-40B4-BE49-F238E27FC236}">
                <a16:creationId xmlns:a16="http://schemas.microsoft.com/office/drawing/2014/main" id="{177A00FA-78C8-4D2A-9965-AF67A6D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840" y="663120"/>
            <a:ext cx="2696760" cy="2696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>
              <a:alpha val="18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8" name="Shape 30">
            <a:extLst xmlns:a="http://schemas.openxmlformats.org/drawingml/2006/main">
              <a:ext uri="{FF2B5EF4-FFF2-40B4-BE49-F238E27FC236}">
                <a16:creationId xmlns:a16="http://schemas.microsoft.com/office/drawing/2014/main" id="{557E4DED-395A-41A1-9F2D-72DAC0E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68680"/>
            <a:ext cx="2285280" cy="2285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3E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9" name="Shape 31">
            <a:extLst xmlns:a="http://schemas.openxmlformats.org/drawingml/2006/main">
              <a:ext uri="{FF2B5EF4-FFF2-40B4-BE49-F238E27FC236}">
                <a16:creationId xmlns:a16="http://schemas.microsoft.com/office/drawing/2014/main" id="{3A7BEDDB-599A-4E43-A62C-B4FE8353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240" y="1566000"/>
            <a:ext cx="319320" cy="319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0" name="Shape 32">
            <a:extLst xmlns:a="http://schemas.openxmlformats.org/drawingml/2006/main">
              <a:ext uri="{FF2B5EF4-FFF2-40B4-BE49-F238E27FC236}">
                <a16:creationId xmlns:a16="http://schemas.microsoft.com/office/drawing/2014/main" id="{76C8B7D5-2907-46D2-BB89-D97338BE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480" y="2000160"/>
            <a:ext cx="250920" cy="250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1" name="Shape 33">
            <a:extLst xmlns:a="http://schemas.openxmlformats.org/drawingml/2006/main">
              <a:ext uri="{FF2B5EF4-FFF2-40B4-BE49-F238E27FC236}">
                <a16:creationId xmlns:a16="http://schemas.microsoft.com/office/drawing/2014/main" id="{F2CB961B-8308-475F-8C77-6719AD3A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320" y="2365920"/>
            <a:ext cx="205200" cy="20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2" name="Shape 34">
            <a:extLst xmlns:a="http://schemas.openxmlformats.org/drawingml/2006/main">
              <a:ext uri="{FF2B5EF4-FFF2-40B4-BE49-F238E27FC236}">
                <a16:creationId xmlns:a16="http://schemas.microsoft.com/office/drawing/2014/main" id="{5EC4A255-8D3B-4D5E-AB94-6A1C3B7A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600" y="1423080"/>
            <a:ext cx="147960" cy="147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6DA">
              <a:alpha val="75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160" tIns="45000" rIns="7416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3" name="Text 35">
            <a:extLst xmlns:a="http://schemas.openxmlformats.org/drawingml/2006/main">
              <a:ext uri="{FF2B5EF4-FFF2-40B4-BE49-F238E27FC236}">
                <a16:creationId xmlns:a16="http://schemas.microsoft.com/office/drawing/2014/main" id="{E3240C21-0E48-4424-908F-1B3D7C4E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8686080" cy="137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000" b="1" u="none">
                <a:solidFill>
                  <a:srgbClr val="EAF0FF"/>
                </a:solidFill>
                <a:latin typeface="Cambria"/>
                <a:ea typeface="Cambria"/>
                <a:cs typeface="Cambria"/>
              </a:rPr>
              <a:t>The next test must be time-resolved.</a:t>
            </a:r>
          </a:p>
        </p:txBody>
      </p:sp>
      <p:sp>
        <p:nvSpPr>
          <p:cNvPr id="514" name="Shape 36">
            <a:extLst xmlns:a="http://schemas.openxmlformats.org/drawingml/2006/main">
              <a:ext uri="{FF2B5EF4-FFF2-40B4-BE49-F238E27FC236}">
                <a16:creationId xmlns:a16="http://schemas.microsoft.com/office/drawing/2014/main" id="{43DCF76E-B05D-4F61-9108-62E9BC59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1880"/>
            <a:ext cx="163800" cy="163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82080" tIns="45000" rIns="8208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5" name="Text 37">
            <a:extLst xmlns:a="http://schemas.openxmlformats.org/drawingml/2006/main">
              <a:ext uri="{FF2B5EF4-FFF2-40B4-BE49-F238E27FC236}">
                <a16:creationId xmlns:a16="http://schemas.microsoft.com/office/drawing/2014/main" id="{F25332C8-AAE4-4D7E-BD19-060650EA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66160"/>
            <a:ext cx="859464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65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A null here is failure-to-detect, not disproof: a surface-map co-location study, not a temporal dynamo test.</a:t>
            </a:r>
          </a:p>
        </p:txBody>
      </p:sp>
      <p:sp>
        <p:nvSpPr>
          <p:cNvPr id="516" name="Shape 38">
            <a:extLst xmlns:a="http://schemas.openxmlformats.org/drawingml/2006/main">
              <a:ext uri="{FF2B5EF4-FFF2-40B4-BE49-F238E27FC236}">
                <a16:creationId xmlns:a16="http://schemas.microsoft.com/office/drawing/2014/main" id="{9682AD0F-7A69-4216-863C-9B71E05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0320"/>
            <a:ext cx="163800" cy="163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82080" tIns="45000" rIns="8208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7" name="Text 39">
            <a:extLst xmlns:a="http://schemas.openxmlformats.org/drawingml/2006/main">
              <a:ext uri="{FF2B5EF4-FFF2-40B4-BE49-F238E27FC236}">
                <a16:creationId xmlns:a16="http://schemas.microsoft.com/office/drawing/2014/main" id="{E9F3A214-3781-4AF1-A99B-325E539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24600"/>
            <a:ext cx="859464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65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Use dated samples or time-resolved proxies to test the Nichols mechanism directly.</a:t>
            </a:r>
          </a:p>
        </p:txBody>
      </p:sp>
      <p:sp>
        <p:nvSpPr>
          <p:cNvPr id="518" name="Shape 40">
            <a:extLst xmlns:a="http://schemas.openxmlformats.org/drawingml/2006/main">
              <a:ext uri="{FF2B5EF4-FFF2-40B4-BE49-F238E27FC236}">
                <a16:creationId xmlns:a16="http://schemas.microsoft.com/office/drawing/2014/main" id="{D909F795-0A16-4A21-81E3-83293CD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8760"/>
            <a:ext cx="163800" cy="163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C8E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82080" tIns="45000" rIns="8208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9" name="Text 41">
            <a:extLst xmlns:a="http://schemas.openxmlformats.org/drawingml/2006/main">
              <a:ext uri="{FF2B5EF4-FFF2-40B4-BE49-F238E27FC236}">
                <a16:creationId xmlns:a16="http://schemas.microsoft.com/office/drawing/2014/main" id="{8C26DD69-3D11-4EBF-BA0A-CA53307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83040"/>
            <a:ext cx="859464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650" b="0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Expand calibrated TiO₂ coverage and use dependence-scale blocks before any negative claim.</a:t>
            </a:r>
          </a:p>
        </p:txBody>
      </p:sp>
      <p:sp>
        <p:nvSpPr>
          <p:cNvPr id="520" name="Text 42">
            <a:extLst xmlns:a="http://schemas.openxmlformats.org/drawingml/2006/main">
              <a:ext uri="{FF2B5EF4-FFF2-40B4-BE49-F238E27FC236}">
                <a16:creationId xmlns:a16="http://schemas.microsoft.com/office/drawing/2014/main" id="{CBDE257F-4184-4534-8A82-F62E5AC9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72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u="none">
                <a:solidFill>
                  <a:srgbClr val="EAF0FF"/>
                </a:solidFill>
                <a:latin typeface="Calibri"/>
                <a:ea typeface="Calibri"/>
                <a:cs typeface="Calibri"/>
              </a:rPr>
              <a:t>Thank you  ·  </a:t>
            </a:r>
            <a:r>
              <a:rPr sz="1500" b="0" u="none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github.com/lemoon01110/Lunar-Titanium-Magnetism</a:t>
            </a:r>
          </a:p>
        </p:txBody>
      </p:sp>
    </p:spTree>
    <p:extLst>
      <p:ext uri="{BB962C8B-B14F-4D97-AF65-F5344CB8AC3E}">
        <p14:creationId xmlns:p14="http://schemas.microsoft.com/office/powerpoint/2010/main" val="17666497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2026-07-17T23:36:23.1480000Z</dcterms:created>
  <dcterms:modified xsi:type="dcterms:W3CDTF">2026-07-17T23:36:23.1480000Z</dcterms:modified>
</coreProperties>
</file>