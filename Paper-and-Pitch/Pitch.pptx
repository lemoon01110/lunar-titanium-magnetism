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r="http://schemas.openxmlformats.org/officeDocument/2006/relationships" id="256" r:id="Red3ed0dd0cf04a76"/>
    <p:sldId xmlns:ns0="http://schemas.openxmlformats.org/officeDocument/2006/relationships" id="267" ns0:id="rId1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4.xml"/><Relationship Id="R261727462de04e3f" Type="http://schemas.openxmlformats.org/officeDocument/2006/relationships/slide" Target="slides/slide8.xml"/><Relationship Id="R4e555600177b40e0" Type="http://schemas.openxmlformats.org/officeDocument/2006/relationships/slide" Target="slides/slide12.xml"/><Relationship Id="R52af155a88e44ea6" Type="http://schemas.openxmlformats.org/officeDocument/2006/relationships/slide" Target="slides/slide6.xml"/><Relationship Id="R98ce4bc5d6a149ed" Type="http://schemas.openxmlformats.org/officeDocument/2006/relationships/slide" Target="slides/slide5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9.xml"/><Relationship Id="Rda3b28f8b7414c66" Type="http://schemas.openxmlformats.org/officeDocument/2006/relationships/slide" Target="slides/slide11.xml"/><Relationship Id="Reb73d3d5554e4a10" Type="http://schemas.openxmlformats.org/officeDocument/2006/relationships/slide" Target="slides/slide3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7.xml"/><Relationship Id="Rfaaea65a11074022" Type="http://schemas.openxmlformats.org/officeDocument/2006/relationships/slide" Target="slides/slide10.xml"/><Relationship Id="Rfb503942820d489c" Type="http://schemas.openxmlformats.org/officeDocument/2006/relationships/theme" Target="theme/theme1.xml"/><Relationship Id="rId16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Jack Wu (lemoon01110)  ·  ORCID 0009-0004-1710-9018  ·  v2.0.0  ·  github.com/lemoon01110/Lunar-Titanium-Magnetism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Shape 0">
            <a:extLst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noGrp="1"/>
          </p:cNvSpPr>
          <p:nvPr/>
        </p:nvSpPr>
        <p:spPr>
          <a:xfrm>
            <a:off x="1280160" y="11887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noGrp="1"/>
          </p:cNvSpPr>
          <p:nvPr/>
        </p:nvSpPr>
        <p:spPr>
          <a:xfrm>
            <a:off x="1920240" y="45720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noGrp="1"/>
          </p:cNvSpPr>
          <p:nvPr/>
        </p:nvSpPr>
        <p:spPr>
          <a:xfrm>
            <a:off x="2926080" y="9144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noGrp="1"/>
          </p:cNvSpPr>
          <p:nvPr/>
        </p:nvSpPr>
        <p:spPr>
          <a:xfrm>
            <a:off x="822960" y="21945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noGrp="1"/>
          </p:cNvSpPr>
          <p:nvPr/>
        </p:nvSpPr>
        <p:spPr>
          <a:xfrm>
            <a:off x="1645920" y="3017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noGrp="1"/>
          </p:cNvSpPr>
          <p:nvPr/>
        </p:nvSpPr>
        <p:spPr>
          <a:xfrm>
            <a:off x="457200" y="38404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noGrp="1"/>
          </p:cNvSpPr>
          <p:nvPr/>
        </p:nvSpPr>
        <p:spPr>
          <a:xfrm>
            <a:off x="1097280" y="46634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noGrp="1"/>
          </p:cNvSpPr>
          <p:nvPr/>
        </p:nvSpPr>
        <p:spPr>
          <a:xfrm>
            <a:off x="2194560" y="60350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noGrp="1"/>
          </p:cNvSpPr>
          <p:nvPr/>
        </p:nvSpPr>
        <p:spPr>
          <a:xfrm>
            <a:off x="11612880" y="5486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noGrp="1"/>
          </p:cNvSpPr>
          <p:nvPr/>
        </p:nvSpPr>
        <p:spPr>
          <a:xfrm>
            <a:off x="10881360" y="128016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noGrp="1"/>
          </p:cNvSpPr>
          <p:nvPr/>
        </p:nvSpPr>
        <p:spPr>
          <a:xfrm>
            <a:off x="11795760" y="21031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noGrp="1"/>
          </p:cNvSpPr>
          <p:nvPr/>
        </p:nvSpPr>
        <p:spPr>
          <a:xfrm>
            <a:off x="11247120" y="29260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noGrp="1"/>
          </p:cNvSpPr>
          <p:nvPr/>
        </p:nvSpPr>
        <p:spPr>
          <a:xfrm>
            <a:off x="11704320" y="37490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noGrp="1"/>
          </p:cNvSpPr>
          <p:nvPr/>
        </p:nvSpPr>
        <p:spPr>
          <a:xfrm>
            <a:off x="11064240" y="45720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noGrp="1"/>
          </p:cNvSpPr>
          <p:nvPr/>
        </p:nvSpPr>
        <p:spPr>
          <a:xfrm>
            <a:off x="11521440" y="53949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noGrp="1"/>
          </p:cNvSpPr>
          <p:nvPr/>
        </p:nvSpPr>
        <p:spPr>
          <a:xfrm>
            <a:off x="10607040" y="594360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noGrp="1"/>
          </p:cNvSpPr>
          <p:nvPr/>
        </p:nvSpPr>
        <p:spPr>
          <a:xfrm>
            <a:off x="9875520" y="45720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noGrp="1"/>
          </p:cNvSpPr>
          <p:nvPr/>
        </p:nvSpPr>
        <p:spPr>
          <a:xfrm>
            <a:off x="9052560" y="731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noGrp="1"/>
          </p:cNvSpPr>
          <p:nvPr/>
        </p:nvSpPr>
        <p:spPr>
          <a:xfrm>
            <a:off x="6126480" y="3657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noGrp="1"/>
          </p:cNvSpPr>
          <p:nvPr/>
        </p:nvSpPr>
        <p:spPr>
          <a:xfrm>
            <a:off x="4206240" y="5486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noGrp="1"/>
          </p:cNvSpPr>
          <p:nvPr/>
        </p:nvSpPr>
        <p:spPr>
          <a:xfrm>
            <a:off x="7406640" y="6400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noGrp="1"/>
          </p:cNvSpPr>
          <p:nvPr/>
        </p:nvSpPr>
        <p:spPr>
          <a:xfrm>
            <a:off x="3566160" y="61264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noGrp="1"/>
          </p:cNvSpPr>
          <p:nvPr/>
        </p:nvSpPr>
        <p:spPr>
          <a:xfrm>
            <a:off x="5120640" y="62179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noGrp="1"/>
          </p:cNvSpPr>
          <p:nvPr/>
        </p:nvSpPr>
        <p:spPr>
          <a:xfrm>
            <a:off x="6675120" y="60350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noGrp="1"/>
          </p:cNvSpPr>
          <p:nvPr/>
        </p:nvSpPr>
        <p:spPr>
          <a:xfrm>
            <a:off x="8321040" y="61264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noGrp="1"/>
          </p:cNvSpPr>
          <p:nvPr/>
        </p:nvSpPr>
        <p:spPr>
          <a:xfrm>
            <a:off x="9692640" y="59436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noGrp="1"/>
          </p:cNvSpPr>
          <p:nvPr/>
        </p:nvSpPr>
        <p:spPr>
          <a:xfrm>
            <a:off x="7646760" y="1108800"/>
            <a:ext cx="4640040" cy="4640040"/>
          </a:xfrm>
          <a:prstGeom prst="ellipse">
            <a:avLst/>
          </a:prstGeom>
          <a:solidFill>
            <a:srgbClr val="F2A93B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noGrp="1"/>
          </p:cNvSpPr>
          <p:nvPr/>
        </p:nvSpPr>
        <p:spPr>
          <a:xfrm>
            <a:off x="8078760" y="1540800"/>
            <a:ext cx="3775680" cy="3775680"/>
          </a:xfrm>
          <a:prstGeom prst="ellipse">
            <a:avLst/>
          </a:prstGeom>
          <a:solidFill>
            <a:srgbClr val="F2A93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noGrp="1"/>
          </p:cNvSpPr>
          <p:nvPr/>
        </p:nvSpPr>
        <p:spPr>
          <a:xfrm>
            <a:off x="8366760" y="1828800"/>
            <a:ext cx="3199680" cy="319968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" name="Shape 31">
            <a:extLst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noGrp="1"/>
          </p:cNvSpPr>
          <p:nvPr/>
        </p:nvSpPr>
        <p:spPr>
          <a:xfrm>
            <a:off x="9182880" y="2804760"/>
            <a:ext cx="447480" cy="4474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2" name="Shape 32">
            <a:extLst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noGrp="1"/>
          </p:cNvSpPr>
          <p:nvPr/>
        </p:nvSpPr>
        <p:spPr>
          <a:xfrm>
            <a:off x="10271160" y="3413160"/>
            <a:ext cx="351360" cy="351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noGrp="1"/>
          </p:cNvSpPr>
          <p:nvPr/>
        </p:nvSpPr>
        <p:spPr>
          <a:xfrm>
            <a:off x="9662760" y="3925080"/>
            <a:ext cx="287280" cy="2872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4" name="Shape 34">
            <a:extLst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noGrp="1"/>
          </p:cNvSpPr>
          <p:nvPr/>
        </p:nvSpPr>
        <p:spPr>
          <a:xfrm>
            <a:off x="10103040" y="2604960"/>
            <a:ext cx="207360" cy="207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7200" y="457200"/>
            <a:ext cx="6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BEFORE THE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900000"/>
            <a:ext cx="6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Independent work,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openly assisted.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2150000"/>
            <a:ext cx="900000" cy="18000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2350000"/>
            <a:ext cx="62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600" b="0">
                <a:solidFill>
                  <a:srgbClr val="C9D3EE"/>
                </a:solidFill>
                <a:latin typeface="Calibri"/>
                <a:ea typeface="Calibri"/>
                <a:cs typeface="Calibri"/>
              </a:rPr>
              <a:t>An independent, reproducible analysis of a present-day surface-map proxy — not a peer-reviewed planetary-science paper.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6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Language models helped with code, drafting, and adversarial review. Scientific framing, design choices, and every claim remain the author’s.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Built to be checked — hashes, tests, and a public decision history.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800000"/>
            <a:ext cx="6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Jack Wu  ·  v2.0.0  ·  AI tools used; author accountable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without a present-day global dynamo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global core dynamo today.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Favored mechanism: radiogenic melting of ilmenite-bearing cumulates at the core–mantle boundary after overturn, raising core heat flux (not simply continued sinking of Ti-rich material).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.271820 vs null mean .155877, SD .103869 and 95th .376621 (p=.172414 (not recovered)).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86 fold-matched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Author-declared analysis plan; timing cannot be independently verified (repo history begins after results). Binding scores use default-config XGBoost; nested tuning is diagnostic only.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principal products (22 pinned source files),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Tsunakawa et al. 2015 surface SVM via Wieczorek T2015_449 (surface-evaluated |B|; primary threshold 10 nT)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UV/Vis; values &lt;2 wt% are non-quantitative (product floor); primary uses ≥2 wt% only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source files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30° (~910 km) and 60° (~1819 km) holdouts remain below the ~3752 km dependence range. Both nulls used the first 100 eligible 5/5-fold unique nonidentity shifts from 125 candidates; 12 four-fold candidates were rejected. Primary prevalence ≈ .0384 (10 nT, quantitative TiO₂).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Author-declared plan only — not an independently timestamped preregistration. v1.0.0 is superseded.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−.0146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.3649 → .3503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+.042444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Wilcoxon p unavailable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INCONCLUSIVE_LOW_POWER  ·  failure-to-detect, not disproof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remains descriptive and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+.055306; +TiO₂ .476561 versus controls .421255 (mare descriptive only).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n=3,928 · 165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Primary continuous R² .3649 → .3503; raw-Ti increment +.014559±.012575.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Report binary and continuous estimands separately. Registered binary mare criterion did not pass; continuous increments stay descriptive. Footprint still supplies ~one dependence-scale unit.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/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.394936 vs fold-matched null mean .231862, SD .103869 and 95th .490983 (p=.137931); H2 match p=.172414 (not recovered).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  ·  failure-to-detect, not disproof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study—not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Jack Wu (lemoon01110)  ·  ORCID 0009-0004-1710-9018  ·  v2.0.0
github.com/lemoon01110/Lunar-Titanium-Magnetism  ·  code MIT · paper CC BY 4.0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